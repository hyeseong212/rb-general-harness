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609436ac5e42f2" /><Relationship Type="http://schemas.openxmlformats.org/officeDocument/2006/relationships/extended-properties" Target="/docProps/app.xml" Id="R59064646da404a1b" /><Relationship Type="http://schemas.openxmlformats.org/officeDocument/2006/relationships/officeDocument" Target="/ppt/presentation.xml" Id="Rf56b6a6373d64c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21b2e2cabf413a"/>
  </p:sldMasterIdLst>
  <p:notesMasterIdLst>
    <p:notesMasterId xmlns:r="http://schemas.openxmlformats.org/officeDocument/2006/relationships" r:id="R187f8f4629b2485a"/>
  </p:notesMasterIdLst>
  <p:sldIdLst>
    <p:sldId xmlns:r="http://schemas.openxmlformats.org/officeDocument/2006/relationships" id="256" r:id="R3b78a97314b34487"/>
    <p:sldId xmlns:r="http://schemas.openxmlformats.org/officeDocument/2006/relationships" id="257" r:id="Rcb6599cd9a744a73"/>
    <p:sldId xmlns:r="http://schemas.openxmlformats.org/officeDocument/2006/relationships" id="258" r:id="Re770a2bfab384cc4"/>
    <p:sldId xmlns:r="http://schemas.openxmlformats.org/officeDocument/2006/relationships" id="259" r:id="R5318f5a9752344f5"/>
    <p:sldId xmlns:r="http://schemas.openxmlformats.org/officeDocument/2006/relationships" id="260" r:id="Rcb9275bcadee4eb5"/>
    <p:sldId xmlns:r="http://schemas.openxmlformats.org/officeDocument/2006/relationships" id="261" r:id="Rda63262832e646c7"/>
    <p:sldId xmlns:r="http://schemas.openxmlformats.org/officeDocument/2006/relationships" id="262" r:id="Ra08377e6d45b4373"/>
    <p:sldId xmlns:r="http://schemas.openxmlformats.org/officeDocument/2006/relationships" id="263" r:id="R8417aa78c2ef4cd6"/>
    <p:sldId xmlns:r="http://schemas.openxmlformats.org/officeDocument/2006/relationships" id="264" r:id="R593eff039703443a"/>
    <p:sldId xmlns:r="http://schemas.openxmlformats.org/officeDocument/2006/relationships" id="265" r:id="R014b6c87ba4e4c8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1b2e2cabf413a" /><Relationship Type="http://schemas.openxmlformats.org/officeDocument/2006/relationships/theme" Target="/ppt/theme/theme1.xml" Id="R510328efed6f46af" /><Relationship Type="http://schemas.openxmlformats.org/officeDocument/2006/relationships/notesMaster" Target="/ppt/notesMasters/notesMaster1.xml" Id="R187f8f4629b2485a" /><Relationship Type="http://schemas.openxmlformats.org/officeDocument/2006/relationships/presProps" Target="/ppt/presProps.xml" Id="R686ca93f4ade4560" /><Relationship Type="http://schemas.openxmlformats.org/officeDocument/2006/relationships/viewProps" Target="/ppt/viewProps.xml" Id="Rb476ab951dc040de" /><Relationship Type="http://schemas.openxmlformats.org/officeDocument/2006/relationships/tableStyles" Target="/ppt/tableStyles.xml" Id="Re2e66c8d8adf4229" /><Relationship Type="http://schemas.openxmlformats.org/officeDocument/2006/relationships/slide" Target="/ppt/slides/slide1.xml" Id="R3b78a97314b34487" /><Relationship Type="http://schemas.openxmlformats.org/officeDocument/2006/relationships/slide" Target="/ppt/slides/slide2.xml" Id="Rcb6599cd9a744a73" /><Relationship Type="http://schemas.openxmlformats.org/officeDocument/2006/relationships/slide" Target="/ppt/slides/slide3.xml" Id="Re770a2bfab384cc4" /><Relationship Type="http://schemas.openxmlformats.org/officeDocument/2006/relationships/slide" Target="/ppt/slides/slide4.xml" Id="R5318f5a9752344f5" /><Relationship Type="http://schemas.openxmlformats.org/officeDocument/2006/relationships/slide" Target="/ppt/slides/slide5.xml" Id="Rcb9275bcadee4eb5" /><Relationship Type="http://schemas.openxmlformats.org/officeDocument/2006/relationships/slide" Target="/ppt/slides/slide6.xml" Id="Rda63262832e646c7" /><Relationship Type="http://schemas.openxmlformats.org/officeDocument/2006/relationships/slide" Target="/ppt/slides/slide7.xml" Id="Ra08377e6d45b4373" /><Relationship Type="http://schemas.openxmlformats.org/officeDocument/2006/relationships/slide" Target="/ppt/slides/slide8.xml" Id="R8417aa78c2ef4cd6" /><Relationship Type="http://schemas.openxmlformats.org/officeDocument/2006/relationships/slide" Target="/ppt/slides/slide9.xml" Id="R593eff039703443a" /><Relationship Type="http://schemas.openxmlformats.org/officeDocument/2006/relationships/slide" Target="/ppt/slides/slide10.xml" Id="R014b6c87ba4e4c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43e5858d743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eeb37e93b464b" /><Relationship Type="http://schemas.openxmlformats.org/officeDocument/2006/relationships/notesMaster" Target="/ppt/notesMasters/notesMaster1.xml" Id="R8e1722bca47f4c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2b0834c29e4ccd" /><Relationship Type="http://schemas.openxmlformats.org/officeDocument/2006/relationships/notesMaster" Target="/ppt/notesMasters/notesMaster1.xml" Id="Rdf86e5a15fc14c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4d38c6c5f34a6d" /><Relationship Type="http://schemas.openxmlformats.org/officeDocument/2006/relationships/notesMaster" Target="/ppt/notesMasters/notesMaster1.xml" Id="Rb70f4671ae4e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64188df274f3d" /><Relationship Type="http://schemas.openxmlformats.org/officeDocument/2006/relationships/notesMaster" Target="/ppt/notesMasters/notesMaster1.xml" Id="Raf80022eacc643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170455ef9b4fca" /><Relationship Type="http://schemas.openxmlformats.org/officeDocument/2006/relationships/notesMaster" Target="/ppt/notesMasters/notesMaster1.xml" Id="R92d7a7cab1f04e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2290e4af70419d" /><Relationship Type="http://schemas.openxmlformats.org/officeDocument/2006/relationships/notesMaster" Target="/ppt/notesMasters/notesMaster1.xml" Id="R640c14dbbf844f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2cd1b657474fde" /><Relationship Type="http://schemas.openxmlformats.org/officeDocument/2006/relationships/notesMaster" Target="/ppt/notesMasters/notesMaster1.xml" Id="R0a2fa148182348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8933d8f31644d9" /><Relationship Type="http://schemas.openxmlformats.org/officeDocument/2006/relationships/notesMaster" Target="/ppt/notesMasters/notesMaster1.xml" Id="R88fdf1d6367849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fde59cd1714903" /><Relationship Type="http://schemas.openxmlformats.org/officeDocument/2006/relationships/notesMaster" Target="/ppt/notesMasters/notesMaster1.xml" Id="Re43ceb8eede243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10504fde074824" /><Relationship Type="http://schemas.openxmlformats.org/officeDocument/2006/relationships/notesMaster" Target="/ppt/notesMasters/notesMaster1.xml" Id="R6329c4e1e906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표지는 이 기획의 핵심 전환을 보여준다. 재활운동 자체를 바꾸는 것이 아니라, 경험을 미션과 피드백이 있는 구조로 바꾼다는 점을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문제 정의다. 단순 반복을 부정하는 것이 아니라, 반복을 이해하기 쉽게 만들어야 한다는 방향으로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게임화는 단순히 점수와 보상을 붙이는 것이 아니다. 목표, 수행, 반응, 휴식, 기록이 반복되는 루프를 설계하는 것이다.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동작을 게임 콘텐츠로 바꾸는 예시다. 운동 효과를 주장하지 않고, 어떤 미션과 화면 반응, 기록 단위로 바뀌는지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환자에게는 복잡한 재활 설명보다 오늘의 미션과 쉬어가기, 다시 시도 같은 안전한 피드백이 먼저 보여야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치료사 화면은 점수 경쟁이 아니라 관찰 기록이다. 반복 횟수, 시간, 중단 사유, 피로도, 메모가 다음 세션의 참고 자료가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환자 화면 밖의 사용자들을 다룬다. 보호자, 관리자, 재활 전문가에게 필요한 정보가 다르므로 콘텐츠 구조도 분리되어야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장에서는 사용 가능한 문장과 검토가 필요한 문장을 분리해서 보여준다. 위험한 문장은 실제 문구가 아니라 하지 말아야 할 예시로만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자료조사 에이전트는 완성 PPT를 만드는 역할이 아니다. 기준과 재료를 남기고, second acting에서 이를 장표 흐름으로 바꾼다.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장은 다음 실행을 제안한다. 처음부터 큰 콘텐츠 세트를 만들지 말고 한 가지 운동을 30초 미션으로 만들어 작은 프로토타입으로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a9f9047ee455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5f413fe51ff4d50" /><Relationship Type="http://schemas.openxmlformats.org/officeDocument/2006/relationships/slideLayout" Target="/ppt/slideLayouts/slideLayout2.xml" Id="R49c59368054c41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c59368054c41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7d74b771743cc" /><Relationship Type="http://schemas.openxmlformats.org/officeDocument/2006/relationships/notesSlide" Target="/ppt/notesSlides/notesSlide1.xml" Id="R7b16dade7cd045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4375990e13480b" /><Relationship Type="http://schemas.openxmlformats.org/officeDocument/2006/relationships/notesSlide" Target="/ppt/notesSlides/notesSlide2.xml" Id="Rd6434cdab5bf49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dcc4cc0f24216" /><Relationship Type="http://schemas.openxmlformats.org/officeDocument/2006/relationships/notesSlide" Target="/ppt/notesSlides/notesSlide3.xml" Id="Rf9cd0de0a789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f3ccbbef345a8" /><Relationship Type="http://schemas.openxmlformats.org/officeDocument/2006/relationships/notesSlide" Target="/ppt/notesSlides/notesSlide4.xml" Id="R8d5fb8686a4245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9e821b8bc4bae" /><Relationship Type="http://schemas.openxmlformats.org/officeDocument/2006/relationships/notesSlide" Target="/ppt/notesSlides/notesSlide5.xml" Id="Reef60f3c424a44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717018cc24634" /><Relationship Type="http://schemas.openxmlformats.org/officeDocument/2006/relationships/notesSlide" Target="/ppt/notesSlides/notesSlide6.xml" Id="R54a10d22628342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702dd439a94fb5" /><Relationship Type="http://schemas.openxmlformats.org/officeDocument/2006/relationships/notesSlide" Target="/ppt/notesSlides/notesSlide7.xml" Id="R23165d9096704b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8b336aa97f4869" /><Relationship Type="http://schemas.openxmlformats.org/officeDocument/2006/relationships/notesSlide" Target="/ppt/notesSlides/notesSlide8.xml" Id="R1ac7669492af45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c1f7b87fc94b88" /><Relationship Type="http://schemas.openxmlformats.org/officeDocument/2006/relationships/notesSlide" Target="/ppt/notesSlides/notesSlide9.xml" Id="R2aea419edff24c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d59b729bd44560" /><Relationship Type="http://schemas.openxmlformats.org/officeDocument/2006/relationships/notesSlide" Target="/ppt/notesSlides/notesSlide10.xml" Id="R9f7e43e8456b40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E6CE88-CBD3-400F-9DBC-4119FC47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92210-CA68-4FCD-837C-0BDDE04D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048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이승로봇 게임재활 콘텐츠 기획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6BF92A2-8930-409B-B8B3-042A5F8B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885950"/>
            <a:ext cx="8858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운동은 그대로인데,</a:t>
            </a:r>
          </a:p>
          <a:p xmlns:a="http://schemas.openxmlformats.org/drawingml/2006/main">
            <a:pPr algn="l">
              <a:defRPr sz="5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경험이 달라진다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5D97B-1F71-4C2F-959A-C21F4044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4196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간단한 재활운동을 짧은 미션과 피드백이 있는</a:t>
            </a:r>
          </a:p>
          <a:p xmlns:a="http://schemas.openxmlformats.org/drawingml/2006/main">
            <a:pPr algn="l">
              <a:defRPr sz="22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게임운동 콘텐츠로 바꾸는 기획안입니다.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69ADF-6DD6-4E2D-8DF4-D3CF17EF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1333500"/>
            <a:ext cx="6667500" cy="72390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0978B-683D-4031-BE59-E18D9AD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6100" y="18097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게임운동 루프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ACB5B-C67A-428B-9EDB-0D60AC4F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5150" y="23241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반복운동을 하나의 콘텐츠 흐름으로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B20D9-D9B4-40A8-8A65-CE03FA8D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304800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917D4-ADE6-4599-81B2-017901E6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3219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E33DD-7D5C-41C3-871B-4C0E350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32861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63777-D49D-49A6-99CC-814CF257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32194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미션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4FB01-3309-4B71-B9E7-4F6E7F6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3543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오늘 할 동작을 짧게 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CC05C-0972-4C4E-8D15-2AA808F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011150" y="3914775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434B9-BD5A-4040-B24D-7A76232E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417195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993F6-87FA-4600-A687-807F68E0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4343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CAEF5-15B3-4385-97DF-F1255DFD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44100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BF53B-8D8D-41AD-8F8E-F7C1762A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43434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반응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701A7-55CC-4C1A-B4E4-45A71F1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4667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움직임이 화면 변화로 돌아옴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F1B82-DC27-4F08-8359-2647FF8B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011150" y="5038725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8979D-EA0B-4EA2-B10F-1973BF60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529590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5B2C1-570E-4F93-A3E4-CE2D9360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5467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9B2DD-6712-44F5-B8DC-0BC1DD7D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55340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F26C0-1149-4402-9447-C067CD4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5467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C344"/>
                </a:solidFill>
                <a:latin typeface="Pretendard"/>
                <a:ea typeface="Pretendard"/>
                <a:cs typeface="Pretendard"/>
              </a:defRPr>
            </a:pPr>
            <a:r>
              <a:t>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DFDAF-5FCF-4E86-8A43-F6164CED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5791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횟수·시간·중단 사유를 남김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7132B-A29D-4B2E-8D15-63AEEB30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011150" y="6162675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2BD64-23B8-4D28-A4E8-AE2DF617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641985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E8268-D560-4E2E-BEB1-09693BEF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6591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31117-07C2-43FB-A4D7-814884EE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6657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8D775D-B31C-49B4-AD9C-A79713CC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6591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다음 미션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BF82B6-1FD5-4610-B655-F838DC0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6915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휴식 후 다음 과제로 연결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03CE5-516D-4BED-9CBE-DCA56EB6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77150"/>
            <a:ext cx="5867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82378-BAF1-491B-9AA2-6B7E43B5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9450" y="7839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반복 숙제 → 짧은 게임 루프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FC921-73AD-4E9C-A524-8BB3C67E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546E0E-7E4A-46DC-BDBE-E7A1BAB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치료 효과를 단정하지 않는 콘텐츠 방향</a:t>
            </a:r>
          </a:p>
        </p:txBody>
      </p:sp>
    </p:spTree>
    <p:extLst>
      <p:ext uri="{BB962C8B-B14F-4D97-AF65-F5344CB8AC3E}">
        <p14:creationId xmlns:p14="http://schemas.microsoft.com/office/powerpoint/2010/main" val="8596664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6CC470-C03A-4B7C-8D57-07FDD01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41BEB-227E-4B08-A3A3-3BDA69AD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문제 정의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8316E4D-E37C-498C-B0E2-B754277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반복운동에는 "왜 계속해야 하는지"를 보여주는 장치가 필요하다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8F364-1E58-4E55-A08C-369D57F4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34A15-55C4-41EE-BCD1-29EA61B9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00250"/>
            <a:ext cx="1257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반복 자체는 중요하지만, 사용자가 반복의 의미와 현재 수행 상태를 이해하지 못하면 경험은 쉽게 무거워질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63FE3-080D-4192-98E4-B8DBB53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333750"/>
            <a:ext cx="4857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88B6A-AAD0-4BE1-8924-F81B2FFE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562350"/>
            <a:ext cx="13335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E880E-8B58-4BA6-8198-40BDF0D2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600450"/>
            <a:ext cx="405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동작은 단순하다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3F72A-EC67-49E6-8B11-CD660C12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4133850"/>
            <a:ext cx="4057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팔 뻗기, 손 쥐기, 무릎 펴기처럼 기본 동작은 짧고 반복적입니다.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C2CD4-B8F7-42D7-A8E1-1FF21F7E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333750"/>
            <a:ext cx="4857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B60B2-C294-413E-88C6-00219B25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562350"/>
            <a:ext cx="13335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1C52B-1131-4F40-95F4-6B8CE48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600450"/>
            <a:ext cx="405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반응은 약하다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4BE9E-601D-4EBE-BFE5-02C8F337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133850"/>
            <a:ext cx="4057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사용자는 지금 잘하고 있는지, 다음에 무엇을 해야 하는지 바로 알기 어렵습니다.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B8566-29E8-4406-B70E-60377FF3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3333750"/>
            <a:ext cx="4857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AFE93-57C7-484D-A2E8-E0EBAEDB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6800" y="3562350"/>
            <a:ext cx="13335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A2374-4568-4B02-A0D2-82BEDAF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1600" y="3600450"/>
            <a:ext cx="405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기록은 흩어진다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2196-8D20-4F26-A3FF-B832CC1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1600" y="4133850"/>
            <a:ext cx="4057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치료사와 보호자는 수행 과정과 중단 이유를 확인할 수 있어야 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4513F-0CE6-4B82-A532-22F0869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6229350"/>
            <a:ext cx="1028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73DAD-5BD3-4A7F-B7E8-F9E646A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01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7FB82-47E0-4D1A-9446-60145CB6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601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BB311-C5F1-4717-987E-4B897B42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300" y="601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5E9B4-5832-42BA-AC36-70FB102E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7181850"/>
            <a:ext cx="1162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그래서 필요한 것은</a:t>
            </a:r>
          </a:p>
          <a:p xmlns:a="http://schemas.openxmlformats.org/drawingml/2006/main">
            <a:pPr algn="ctr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운동을 계속하게 만드는 경험 구조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40FF0-B3B2-42C9-A44E-138E869C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9FF0E-BE77-4898-8D92-A262BA79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표현 주의: 실제 환자 행동을 단정하지 않고 가능성 중심으로 표현</a:t>
            </a:r>
          </a:p>
        </p:txBody>
      </p:sp>
    </p:spTree>
    <p:extLst>
      <p:ext uri="{BB962C8B-B14F-4D97-AF65-F5344CB8AC3E}">
        <p14:creationId xmlns:p14="http://schemas.microsoft.com/office/powerpoint/2010/main" val="20279988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7725A-A490-4431-B4ED-236A65A3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71065-02B9-4C28-A1A4-5CED3DF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기획 원리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3EDE078-A489-4ACD-A8E7-C92E04A1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게임화의 핵심은 재미보다 반복 루프다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A813F-8220-4407-AB53-F5CA9B6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AA17E-0293-4D1A-A7CE-D3D4C0F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981200"/>
            <a:ext cx="1200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게임 요소는 운동을 대신하는 것이 아니라, 반복 수행을 이해하기 쉬운 순환 구조로 바꾸는 장치입니다.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216B7-88A7-4FB5-ADDE-2E8195F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714750"/>
            <a:ext cx="2362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E605B-154C-44F2-A015-3D3CAD5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71475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BA626-3F7B-40EA-BC14-5EB2634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0414A-05ED-4158-8D1E-52C73C6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4124325"/>
            <a:ext cx="24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DFFFF-C61A-4808-978D-320B7D22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076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목표 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CD3FC-8779-4775-8874-B31F350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7434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오늘 할 동작을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짧게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DDB46-DD04-436B-8235-8C4FA9F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44005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6FDAA-CB4C-4767-B016-47B1A22B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714750"/>
            <a:ext cx="2362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9E52E-70FB-4298-BF03-B09AA981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71475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68104-14DB-4C60-AEF6-8A0ACA98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51764-217E-4B9F-907C-0F570C3E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6725" y="4124325"/>
            <a:ext cx="24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E7DEE-31ED-44D4-81DC-E9A708C3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76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동작 수행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70B31-7BBB-483F-886F-0D5C12AD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47434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사용자가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움직임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1BE6F-A180-46DA-9F27-624CBDF7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44005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5C4F3-A2DC-402E-AAE9-ADCB1A4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714750"/>
            <a:ext cx="2362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E4754-4D9A-401F-82F2-727AF4E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71475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D93F7-8653-4D67-8E09-42C7727A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E3DD4-6399-488B-944C-7186CC93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4124325"/>
            <a:ext cx="24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9DF7D-7787-4621-9808-1BF481D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4076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344"/>
                </a:solidFill>
                <a:latin typeface="Pretendard"/>
                <a:ea typeface="Pretendard"/>
                <a:cs typeface="Pretendard"/>
              </a:defRPr>
            </a:pPr>
            <a:r>
              <a:t>화면 반응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25EEE-8BC4-404A-859A-8EFBCEDF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47434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움직임이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변화로 돌아옴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7A7A5-BBAC-480F-BFB6-CA388251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4005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B69CD-E109-4B99-852D-AA83001C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3714750"/>
            <a:ext cx="2362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7DE6B-EC07-4ED8-AB3B-89380EF2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371475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283A3-7B41-4622-8D51-5B6B7B41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1BB6A-A80A-45C3-9EB9-E73E1F64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4124325"/>
            <a:ext cx="24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5F6154-CEC5-4F96-A131-2F8DD7E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4076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휴식 체크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45791-D368-4EE6-8509-83CDFA9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47434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무리하지 않도록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쉬어가기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27724-3FFD-4BE6-92B5-6D4E73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44005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2E56D2-5DE5-4C1A-BA9A-2D0D4A2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3714750"/>
            <a:ext cx="2362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2167BE-3EE7-44C1-BB29-EE74D849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371475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BDE497-1475-4EAA-B925-ADDE12F4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58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4F4853-A17B-4086-A36C-E0DFDE26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0625" y="4124325"/>
            <a:ext cx="24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FFE5EF-BA8A-4993-B4EB-911D2B31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50" y="4076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기록 저장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4F2E8C-0A3C-400B-AA45-6CD04BBF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950" y="47434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횟수·시간·중단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사유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B229FF-AC49-4F82-8D15-971C0727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87550" y="44005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BC6B50-B2C3-4660-B015-947DD511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0" y="3714750"/>
            <a:ext cx="2362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7D16D4-C8C1-477F-8CA1-F3ABFCDF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0" y="371475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EEE4B2-2572-438B-B1AB-37BE181F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97150" y="4057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067873-D94A-4E13-8908-99FA03C0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1925" y="4124325"/>
            <a:ext cx="24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3112E2-72D6-4AA2-9083-48731E2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0" y="4076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다음 미션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796FE1-387A-4D4D-8ACC-06B87B3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0" y="47434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 후 다음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과제로 연결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C0A6F8-C3AD-4BD8-82E2-AC63553C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6153150"/>
            <a:ext cx="1463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701575-9529-4C71-9692-C14DCBCF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6534150"/>
            <a:ext cx="11734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한 번의 미션이 끝나면 기록과 휴식 기준을 확인하고 다음 미션으로 이어집니다.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C1F004-9883-43C5-A826-5D02B54D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76771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2A97CC-1182-43A0-9059-EFC41FF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784860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재미는 장식이 아니라, 반복을 이해하고 다시 시도하게 만드는 흐름입니다.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D33A1B-41E9-45F0-8850-B51FA25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4316CE-3CB3-445B-B4D1-31636DC0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게임 요소는 참여 장치이며, 운동 강도와 대상자는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689209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D3AE0-72B3-495C-AD78-BFF0A52B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7A98C-7206-442F-A93A-D2CCFE74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콘텐츠 예시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39F427D-B156-4289-8D53-CBE1C9AE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기본 운동은 작은 미션으로 바뀐다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E5F61-0574-4918-B606-8AB6290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B1A7F-875C-4DAA-8202-8894D9F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3812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기본 운동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308D-33A9-4E22-A52E-C990EE8A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3812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게임 미션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B773E-EAA4-4461-B78B-159FC30E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3812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반응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980CF-FFCB-43D6-85AB-2DB7A9F2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23812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E1600-FACF-4053-9026-9E3B3FDD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670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 앞으로 뻗기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89CD6-3F30-4AC7-BCA3-9057D3C7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06705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과일 따기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9AFEC-A10B-4765-9B75-AFE1A487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0670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목표 지점에 닿으면 빛이 켜짐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3BB3F-2A34-4DAD-A3CA-B9F2FF0B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30670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도달 횟수, 좌우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3FF2C-0999-4A56-8CE1-7C5F3730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910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손 쥐었다 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57E7-D7D6-4A93-B00C-5BF5A17A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19100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보석 모으기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144F3-EDA4-4C45-AA31-B03A8EE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9100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손 동작마다 아이템 획득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B0025-95E1-48EA-AA61-6C5716CC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41910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반복 횟수, 피로도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142C6-CA45-4E2B-BA40-139E949D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3149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무릎 펴기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FAA03-18CF-4441-89EE-C11CBE9C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31495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풍선 터뜨리기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8EAB6-3592-4E3B-BB1B-4D5B1C0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3149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다리 움직임에 따라 타일 반응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D9780-B5AE-4DA9-A1A5-28829D09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53149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수행 시간, 중단 사유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CAFBA-1545-4763-8B2D-595AA54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4389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체중 이동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B1076-7139-483F-9E89-163D2CA9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643890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균형 게이지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BDA24-8F03-4470-8D7F-F57AB9BF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643890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중심이 범위 안에 들어오면 유지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03EAD-DD20-472C-AB33-FB3B79CE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64389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유지 시간, 흔들림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8B17D-A504-467A-9BF9-30D05862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8324850"/>
            <a:ext cx="1485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83B"/>
                </a:solidFill>
                <a:latin typeface="Pretendard"/>
                <a:ea typeface="Pretendard"/>
                <a:cs typeface="Pretendard"/>
              </a:defRPr>
            </a:pPr>
            <a:r>
              <a:t>결과 표현 금지: '기능 향상', '회복' 대신 수행·반응·기록 중심으로 설명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2ABCD-E390-4431-9A95-D0219CD6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2934D-8670-4353-BDF1-70691D88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재활 전문가 검토 전 문구</a:t>
            </a:r>
          </a:p>
        </p:txBody>
      </p:sp>
    </p:spTree>
    <p:extLst>
      <p:ext uri="{BB962C8B-B14F-4D97-AF65-F5344CB8AC3E}">
        <p14:creationId xmlns:p14="http://schemas.microsoft.com/office/powerpoint/2010/main" val="14617865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7E7F6-1DA0-4962-88A4-AEA0A2FE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06E29-2984-4C63-AA63-C2748552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환자 화면 방향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C66F250-C15E-4396-AA71-09D7D77C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환자에게는 오늘의 미션이 먼저 보여야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D9FB-67AC-490F-98CA-DAE5DAA3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98B45-52AE-4F76-B531-624F025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9812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환자 화면은 치료 결과보다 오늘 무엇을 하면 되는지, 언제 쉬어야 하는지를 쉽게 보여주는 데 집중합니다.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6D80C-E6F5-404D-B226-DD77F1A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1600200"/>
            <a:ext cx="4095750" cy="7239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EB6FC-4EC1-4A0E-8D6C-03DA4FC1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8650" y="1924050"/>
            <a:ext cx="3600450" cy="65913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B8196-FEF9-4B85-8472-A6389928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50" y="21526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기획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FC709-FD12-48FA-A3D8-CB9F8351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50" y="27241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오늘의 미션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F0EB0-57AD-4A32-A863-1E4ADA5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50" y="3219450"/>
            <a:ext cx="295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팔을 앞으로</a:t>
            </a:r>
          </a:p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천천히 뻗기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2BF7D-FE39-404F-AF15-9885E9E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6800" y="4667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4911A-4CAB-4098-ABC0-224C432B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7800" y="50482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D92FA-4115-492C-80C9-E45F174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2050" y="64389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6 /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74BAB-CA68-4DBE-B14A-53456FB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50" y="7219950"/>
            <a:ext cx="1466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쉬어가기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B580F-4407-4988-ACB3-8FF66A2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2700" y="7219950"/>
            <a:ext cx="1466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다시 시도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A0D80-0185-4B1D-B284-7139B5C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429000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19050">
            <a:solidFill>
              <a:srgbClr val="E2F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DD66E-B2B9-46B8-87CB-775235D7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657600"/>
            <a:ext cx="1333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546CF-F305-4D2E-BA7A-20A5CE05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69570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먼저 보이는 정보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4E68E-16ED-41DA-AE58-7E11BA3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4229100"/>
            <a:ext cx="3676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오늘의 미션, 남은 횟수, 쉬어가기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3B94E-5926-43BB-93EA-85711854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429250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19050">
            <a:solidFill>
              <a:srgbClr val="E8EE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5D3E4-B643-4F55-8E0B-17637D51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657850"/>
            <a:ext cx="1333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17702-4CC5-4E63-84C2-512C16EE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69595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강요하지 않는 피드백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0A256-FC79-42B0-8ED1-7AC12FDB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229350"/>
            <a:ext cx="3676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성공/실패보다 도달, 휴식, 다시 시도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F9EC9-69D5-44A5-93FF-E1232CC1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42912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19050">
            <a:solidFill>
              <a:srgbClr val="FFE8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CB67B-57B6-42CB-8A2C-B2DBC6E6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657725"/>
            <a:ext cx="1333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3FCC1-31CB-4A4F-A345-A05F7312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4695825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안전 입력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F1EDD-2297-4174-A751-948E1073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5229225"/>
            <a:ext cx="3676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통증, 피로, 어지러움 같은 중단 신호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68436-70E3-4CD1-935D-253804D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78676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"오늘의 미션을 하나씩 수행합니다."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E6DA6-CD22-4622-805E-29334333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B919B-405D-4F38-B10C-0B47DD3D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환자용 문구는 명령형·단정형·무리 유도 표현을 피함</a:t>
            </a:r>
          </a:p>
        </p:txBody>
      </p:sp>
    </p:spTree>
    <p:extLst>
      <p:ext uri="{BB962C8B-B14F-4D97-AF65-F5344CB8AC3E}">
        <p14:creationId xmlns:p14="http://schemas.microsoft.com/office/powerpoint/2010/main" val="6151219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08D20-3353-441E-A54B-BA776CD8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D7411-5075-4E8F-98E0-F5B1E9B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치료사 화면 방향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C11CEB1-3FB6-43D6-A4D7-A62E9F58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치료사에게는 게임 결과가 관찰 기록이 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E6B18-BF96-4826-9CD5-76A6F365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9199E-01B8-4089-9E7D-ED340255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981200"/>
            <a:ext cx="1200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게임 결과는 점수 자랑이 아니라, 치료사가 참고할 수 있는 수행 기록으로 정리되어야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66610-EC68-4527-9ADC-9362634A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086100"/>
            <a:ext cx="106680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05204-BBFE-4FB1-BCC6-6E8FE09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448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4DCF9-7EC3-4AB2-9CEF-204626C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0957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DC89C-5290-4B0D-9E1D-CEB84F7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343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반복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5115C-16EB-45D1-B22B-B1A9C289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686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10회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2C1C1-EAD0-4DAB-BA65-56A1E1EE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40957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1A503-966C-446D-BE78-DC0BD65E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343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수행 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41318-2D4F-4EF0-A98C-D2F5C6E1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686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32초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4A5E7-2661-48E6-8AF0-1D203A15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0957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28427-3F67-4060-954B-3AAF50CC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343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중단 사유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3DE5F-715D-462C-9556-A6007D54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686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72616-3137-42A2-85E5-744BD89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40957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6B550-3527-4E1F-956E-20CBD2E2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343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자가 피로도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03B23-73FC-4068-AF2C-46CAC358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686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2 /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1862E-94FC-44B3-B00F-F77F512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943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관찰 메모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E888E-B746-4128-9A67-FE84AE71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6400800"/>
            <a:ext cx="9296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3824A-4E5C-4668-BA51-F9FFF181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66675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오른쪽 도달 범위가 짧게 나타남. 다음 세션에서 통증 여부 확인 필요.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D02B0-AA6F-4862-BA15-CC033C4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0" y="3333750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A8CA9-59E9-419F-9D31-1251CE06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3562350"/>
            <a:ext cx="1333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BACC6-9591-447D-9B79-4446A68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360045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기록의 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4C4E9-C457-4FA2-96BB-F47CE625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4133850"/>
            <a:ext cx="320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진단이나 처방이 아니라 상담과 판단의 참고 자료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B621E9-ADD5-42B2-9F9D-B6B78C08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0" y="5334000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9C362-16EF-4766-9B2A-6ED5538E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5562600"/>
            <a:ext cx="1333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3E0D0-0747-4CD3-9CC5-BEB4BDAF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560070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표현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B97FD-011D-40EC-B261-AA19F20A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6134100"/>
            <a:ext cx="320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좋아졌다보다 변화 추이와 중단 사유를 남김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C3FD5-7753-4B87-B2C1-580713C5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864870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"수행 기록은 치료사의 판단을 돕는 참고 자료입니다."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E9D855-DB25-408F-8D8E-630DA21D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77456-D580-4D11-9FF2-C496EC41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재활 전문가 검토 전 문구</a:t>
            </a:r>
          </a:p>
        </p:txBody>
      </p:sp>
    </p:spTree>
    <p:extLst>
      <p:ext uri="{BB962C8B-B14F-4D97-AF65-F5344CB8AC3E}">
        <p14:creationId xmlns:p14="http://schemas.microsoft.com/office/powerpoint/2010/main" val="692046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49D37-3639-453B-AE0D-0D3C41CD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C8558-9AFE-4F28-8FF3-4F27A2A4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운영 관점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C858F68-C0F0-49DD-ACD2-D66D7C08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보호자와 관리자는 안전한 운영 흐름을 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23396-AAC7-432B-A7D4-4D12015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7598A-0CA3-451F-8C82-EA6F175C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9718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보호자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7B474-06F4-4CF4-9F47-48893ED0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048000"/>
            <a:ext cx="1333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D3680-3CEF-4232-9F2C-6A5494F2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64795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20F75-F3E1-4B7B-A18E-640F17E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971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피로·통증·훈련 전후 변화를 메모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F091D-6C9E-4722-9851-862FB94C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3048000"/>
            <a:ext cx="1333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D6312-A651-4734-ADA3-3B858502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0" y="2647950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A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D37D8-E01C-4D8A-96DD-925149CA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100" y="30099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상담 참고 메모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9E038-1BFB-4A38-A624-9BC28AA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9720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관리자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BE733-8C8E-4DA9-A6EE-88C840F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5048250"/>
            <a:ext cx="1333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9A137-0382-4128-B7E8-AF40E076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4820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A0F1D-82C6-4A4F-B99A-088242C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9720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수·사용 현황·안전 체크를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F4474-3078-42E9-A1D4-7776681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5048250"/>
            <a:ext cx="1333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AA850-436C-4456-8237-07F2B501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0" y="4648200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56A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8BE9B-BA82-432B-936A-7FF596CE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100" y="50101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운영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BC995-3FCE-4BAE-9B2A-E045C0E8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69723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재활 전문가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4CCFA-A2C5-48BE-A006-E3E306F9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7048500"/>
            <a:ext cx="1333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462D7-E31F-40AE-BFC2-DD0B0476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664845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74203-35C6-40AA-92A7-ABCD98F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69723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대상자·운동 범위·중단 기준을 검토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BD3D5-9C9C-409A-8AE4-8888B6B7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7048500"/>
            <a:ext cx="1333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5FBEE-9EB6-4F04-9AF2-1FAD17D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0" y="6648450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6B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01456-281F-482B-A286-85C9F2F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100" y="70104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전문가 질문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E4DC6-FEAB-4123-9B2C-A71CDF0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8610600"/>
            <a:ext cx="1333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게임 콘텐츠는 재미만으로 끝나지 않고, 관찰·안전 체크·운영 기준으로 이어져야 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3620A-245B-4D32-BF3C-376BE74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2CCB2-2497-4086-8165-B47BEBC3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재활 전문가 검토 전 문구</a:t>
            </a:r>
          </a:p>
        </p:txBody>
      </p:sp>
    </p:spTree>
    <p:extLst>
      <p:ext uri="{BB962C8B-B14F-4D97-AF65-F5344CB8AC3E}">
        <p14:creationId xmlns:p14="http://schemas.microsoft.com/office/powerpoint/2010/main" val="122529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C62D0-6F4D-486F-A223-77BE50F8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2D71C-A1A3-44AD-8706-EFB81596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표현 기준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1462BEE-A6A8-4112-AEEE-BA11D915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재미있는 문장과 안전한 문장은 따로 검토해야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F52CB-0CB9-4958-B702-6BA390E3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332AB-CD18-47CA-A02B-1050A1A2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000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게임화는 참여를 돕는 장치지만, 치료 효과나 안전을 단정하는 문장으로 넘어가면 안 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16CDD-A5CB-4C31-B88B-3C418F71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2385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6D094-11D5-48F3-B07D-E9272C49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6766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사용 가능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A311F-3A53-46B0-85F0-36E88FAC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451485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반복 수행을 이해하기 쉬운 형태로 설계합니다.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수행 기록을 참고 자료로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0E1F1-4500-41B4-938E-232A6C7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32385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07C41-DF6A-46AB-80A4-BBD99D2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3676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483B"/>
                </a:solidFill>
                <a:latin typeface="Pretendard"/>
                <a:ea typeface="Pretendard"/>
                <a:cs typeface="Pretendard"/>
              </a:defRPr>
            </a:pPr>
            <a:r>
              <a:t>검토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55640-1A94-4BF3-AF0C-49250B4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451485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게임을 하면 재활 효과가 올라갑니다.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기능이 회복됩니다.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7239B-2DE5-41DD-B8E7-23067BA4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77724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880FF-0190-4FD2-9DE4-037833A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7953375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분리 기준: 안전한 문장 / 위험한 문장 / 출처 / 전문가 확인 질문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AD764-8DE6-4BFA-A67D-EFA7F05C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134EB-29BF-43EB-B9A7-9FDC5A9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위험 문장은 예시로만 사용하며, 실제 홍보·환자용 문구로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0372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6AD35-514A-4BE2-8998-EEEA4E3D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F3EAA-551D-4D76-B5D9-1B679B19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하네싱 구조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C5242CB-89A0-4041-B58A-82F9724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자료조사 에이전트는 PPT를 만드는 사람이 아니라 기준을 정리하는 사람이다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57871-7BAB-4622-BA62-E0BCAE0C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C6AC7-D82B-45F4-99BC-134D1594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857500"/>
            <a:ext cx="685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19C57-0DE3-4198-9714-5F73C168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2575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first acting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392C7-9511-4D6C-AEA2-89EAA164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40195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게임화 아이디어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안전 문장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위험 문장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출처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전문가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CF20C-CFDC-461E-A4C2-EB4DE026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152400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9EF85-DAFB-4DA3-9AFE-FBA59B8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55626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압축</a:t>
            </a:r>
          </a:p>
          <a:p xmlns:a="http://schemas.openxmlformats.org/drawingml/2006/main">
            <a:pPr algn="ctr">
              <a:defRPr sz="18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선별</a:t>
            </a:r>
          </a:p>
          <a:p xmlns:a="http://schemas.openxmlformats.org/drawingml/2006/main">
            <a:pPr algn="ctr">
              <a:defRPr sz="18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시각화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7DDAB-2E7A-4FC3-B4F9-4E537B6D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857500"/>
            <a:ext cx="685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44A68-0F43-426F-A163-677B8D2E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0" y="32575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second acting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C53A1-6C39-4D7A-AB6E-DD5048C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40195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PPT 구조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장표 문구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시각화 방향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발표 흐름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 프로토타입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1D3C9-6FFF-44FE-AFAB-21FF5F2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7829550"/>
            <a:ext cx="1371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역할을 나누면, 다음 에이전트는 조사 결과를 복사하지 않고 검증된 재료만 장표화합니다.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DE834-C558-45C4-B6F0-36310326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81049-0294-44F5-89D8-7F7CF488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재활 전문가 검토 전 문구</a:t>
            </a:r>
          </a:p>
        </p:txBody>
      </p:sp>
    </p:spTree>
    <p:extLst>
      <p:ext uri="{BB962C8B-B14F-4D97-AF65-F5344CB8AC3E}">
        <p14:creationId xmlns:p14="http://schemas.microsoft.com/office/powerpoint/2010/main" val="12545860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E3068-5157-448C-ACAC-1F9A69F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BA109-56CF-4FA7-9465-ABD38E36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다음 단계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467EB83-90E1-4E7E-B2D0-8FEB393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257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 실험은 한 가지 운동을 30초 미션으로 만드는 것이다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01AB4-2FA3-43A7-B480-E69578D5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5B228-C3E8-4DCD-8A62-BD10782F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1432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0DDFE-73BD-40BE-993F-1ED2FE87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2647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CBD33-AB53-43EE-A4A8-45573AC9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28575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A7906-7B86-4A52-815A-A8BACB4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152900"/>
            <a:ext cx="182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운동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DE47E-48E6-4571-8C10-8B762775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914900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 뻗기 하나만 고른다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870E0-E8AC-47CE-B941-B3790A9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1432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3608B-82BA-4859-B330-67353DD1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647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17489-EEDE-4C34-BDCC-CCD6638F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8575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9CE69-A75C-4E59-B107-34B297A4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152900"/>
            <a:ext cx="182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미션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EFBA8-1AE6-448D-86EE-F4CAF06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914900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30초 목표와 반응을 만든다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68DFF-662A-48F1-B5BB-A039715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1432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59C89-2314-4984-BF87-41035802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647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1DF5A-2A55-4661-B63D-0D14A629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28575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565D2-0F87-414B-A0DA-58A3D473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4152900"/>
            <a:ext cx="182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6C344"/>
                </a:solidFill>
                <a:latin typeface="Pretendard"/>
                <a:ea typeface="Pretendard"/>
                <a:cs typeface="Pretendard"/>
              </a:defRPr>
            </a:pPr>
            <a:r>
              <a:t>피드백 문구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C072D-4DC7-49FD-A085-AFE8DD67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4914900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도달·휴식·다시 시도로 쓴다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EB4B8-71F9-416C-9A68-629540A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1432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7EADA-32BA-4BBF-831A-184BF37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2647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5E939-6AC5-4F70-97E4-3D7D8607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28575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0F0CB-B9C1-4659-9BC1-54F155E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4152900"/>
            <a:ext cx="182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화면 분리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6D19C-A2D5-41C9-B710-8630129D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4914900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 화면과 치료사 기록을 나눈다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769B2-A2F1-47CA-B8B4-3412E83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0" y="31432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580F2-73F4-484A-864B-4344A4CF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0" y="2647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C4143-982C-4971-BE7F-5BE6954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28575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46F44-F4E3-40CF-9DB5-F2E46650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1850" y="4152900"/>
            <a:ext cx="182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전문가 검토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11B62-2CAC-4ABB-9DC3-81E1FCAC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1850" y="4914900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기준과 표현을 확인한다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85A7A-EAB0-430E-B70F-91F8C2E2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7677150"/>
            <a:ext cx="1352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작게 검증할수록, 게임화 아이디어와 재활 안전 기준을 함께 다듬을 수 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D10E0-ECB9-405C-A3F9-AC5B2476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D913FE-52DA-42DB-8A9F-36091354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143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다음 산출물 후보: 30초 미션 UI 흐름 / 환자용 문구 / 치료사용 기록 화면</a:t>
            </a:r>
          </a:p>
        </p:txBody>
      </p:sp>
    </p:spTree>
    <p:extLst>
      <p:ext uri="{BB962C8B-B14F-4D97-AF65-F5344CB8AC3E}">
        <p14:creationId xmlns:p14="http://schemas.microsoft.com/office/powerpoint/2010/main" val="768096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2026-05-11T23:54:14.8310000Z</dcterms:created>
  <dcterms:modified xsi:type="dcterms:W3CDTF">2026-05-11T23:54:14.8310000Z</dcterms:modified>
</coreProperties>
</file>