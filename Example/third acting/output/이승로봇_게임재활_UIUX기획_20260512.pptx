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3f35f7682b43f0" /><Relationship Type="http://schemas.openxmlformats.org/officeDocument/2006/relationships/extended-properties" Target="/docProps/app.xml" Id="R5f7fd49a982143ca" /><Relationship Type="http://schemas.openxmlformats.org/officeDocument/2006/relationships/officeDocument" Target="/ppt/presentation.xml" Id="R39672d40f0d845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bbb535dc36467b"/>
  </p:sldMasterIdLst>
  <p:notesMasterIdLst>
    <p:notesMasterId xmlns:r="http://schemas.openxmlformats.org/officeDocument/2006/relationships" r:id="Ra7b627188ce84c48"/>
  </p:notesMasterIdLst>
  <p:sldIdLst>
    <p:sldId xmlns:r="http://schemas.openxmlformats.org/officeDocument/2006/relationships" id="256" r:id="Rab19df37c8954173"/>
    <p:sldId xmlns:r="http://schemas.openxmlformats.org/officeDocument/2006/relationships" id="257" r:id="Rcc99786147ca49d7"/>
    <p:sldId xmlns:r="http://schemas.openxmlformats.org/officeDocument/2006/relationships" id="258" r:id="Rf5ed209942874c12"/>
    <p:sldId xmlns:r="http://schemas.openxmlformats.org/officeDocument/2006/relationships" id="259" r:id="Ra82e8255c55e43f1"/>
    <p:sldId xmlns:r="http://schemas.openxmlformats.org/officeDocument/2006/relationships" id="260" r:id="R2f4be06a8cef4706"/>
    <p:sldId xmlns:r="http://schemas.openxmlformats.org/officeDocument/2006/relationships" id="261" r:id="R5a5248d149844eb4"/>
    <p:sldId xmlns:r="http://schemas.openxmlformats.org/officeDocument/2006/relationships" id="262" r:id="R11cf514f1cf54e3e"/>
    <p:sldId xmlns:r="http://schemas.openxmlformats.org/officeDocument/2006/relationships" id="263" r:id="R36e8f5b5cec9407a"/>
    <p:sldId xmlns:r="http://schemas.openxmlformats.org/officeDocument/2006/relationships" id="264" r:id="Rb6faccfd8e494bb2"/>
    <p:sldId xmlns:r="http://schemas.openxmlformats.org/officeDocument/2006/relationships" id="265" r:id="R6d54fd3b90c44cc7"/>
    <p:sldId xmlns:r="http://schemas.openxmlformats.org/officeDocument/2006/relationships" id="266" r:id="Re46c2c1edbe6452b"/>
    <p:sldId xmlns:r="http://schemas.openxmlformats.org/officeDocument/2006/relationships" id="267" r:id="Rdd4f55c885e64ef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bb535dc36467b" /><Relationship Type="http://schemas.openxmlformats.org/officeDocument/2006/relationships/theme" Target="/ppt/theme/theme1.xml" Id="Ra78db2cfa39a4279" /><Relationship Type="http://schemas.openxmlformats.org/officeDocument/2006/relationships/notesMaster" Target="/ppt/notesMasters/notesMaster1.xml" Id="Ra7b627188ce84c48" /><Relationship Type="http://schemas.openxmlformats.org/officeDocument/2006/relationships/presProps" Target="/ppt/presProps.xml" Id="R98f2eb78df1d4238" /><Relationship Type="http://schemas.openxmlformats.org/officeDocument/2006/relationships/viewProps" Target="/ppt/viewProps.xml" Id="Ra246eaae5fd4417c" /><Relationship Type="http://schemas.openxmlformats.org/officeDocument/2006/relationships/tableStyles" Target="/ppt/tableStyles.xml" Id="Rcfff80ebd0e34e72" /><Relationship Type="http://schemas.openxmlformats.org/officeDocument/2006/relationships/slide" Target="/ppt/slides/slide1.xml" Id="Rab19df37c8954173" /><Relationship Type="http://schemas.openxmlformats.org/officeDocument/2006/relationships/slide" Target="/ppt/slides/slide2.xml" Id="Rcc99786147ca49d7" /><Relationship Type="http://schemas.openxmlformats.org/officeDocument/2006/relationships/slide" Target="/ppt/slides/slide3.xml" Id="Rf5ed209942874c12" /><Relationship Type="http://schemas.openxmlformats.org/officeDocument/2006/relationships/slide" Target="/ppt/slides/slide4.xml" Id="Ra82e8255c55e43f1" /><Relationship Type="http://schemas.openxmlformats.org/officeDocument/2006/relationships/slide" Target="/ppt/slides/slide5.xml" Id="R2f4be06a8cef4706" /><Relationship Type="http://schemas.openxmlformats.org/officeDocument/2006/relationships/slide" Target="/ppt/slides/slide6.xml" Id="R5a5248d149844eb4" /><Relationship Type="http://schemas.openxmlformats.org/officeDocument/2006/relationships/slide" Target="/ppt/slides/slide7.xml" Id="R11cf514f1cf54e3e" /><Relationship Type="http://schemas.openxmlformats.org/officeDocument/2006/relationships/slide" Target="/ppt/slides/slide8.xml" Id="R36e8f5b5cec9407a" /><Relationship Type="http://schemas.openxmlformats.org/officeDocument/2006/relationships/slide" Target="/ppt/slides/slide9.xml" Id="Rb6faccfd8e494bb2" /><Relationship Type="http://schemas.openxmlformats.org/officeDocument/2006/relationships/slide" Target="/ppt/slides/slide10.xml" Id="R6d54fd3b90c44cc7" /><Relationship Type="http://schemas.openxmlformats.org/officeDocument/2006/relationships/slide" Target="/ppt/slides/slide11.xml" Id="Re46c2c1edbe6452b" /><Relationship Type="http://schemas.openxmlformats.org/officeDocument/2006/relationships/slide" Target="/ppt/slides/slide12.xml" Id="Rdd4f55c885e64e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8a6300e6b604d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64b869341d405d" /><Relationship Type="http://schemas.openxmlformats.org/officeDocument/2006/relationships/notesMaster" Target="/ppt/notesMasters/notesMaster1.xml" Id="R2d7637c08d7048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c86d5bf53e4559" /><Relationship Type="http://schemas.openxmlformats.org/officeDocument/2006/relationships/notesMaster" Target="/ppt/notesMasters/notesMaster1.xml" Id="R0561c57ac20748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f584c59e824e01" /><Relationship Type="http://schemas.openxmlformats.org/officeDocument/2006/relationships/notesMaster" Target="/ppt/notesMasters/notesMaster1.xml" Id="R5f187765212a4c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57308398af482e" /><Relationship Type="http://schemas.openxmlformats.org/officeDocument/2006/relationships/notesMaster" Target="/ppt/notesMasters/notesMaster1.xml" Id="R81e9f02bea6746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c71d238ba64328" /><Relationship Type="http://schemas.openxmlformats.org/officeDocument/2006/relationships/notesMaster" Target="/ppt/notesMasters/notesMaster1.xml" Id="R2cb43658231a47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6548fb9a104535" /><Relationship Type="http://schemas.openxmlformats.org/officeDocument/2006/relationships/notesMaster" Target="/ppt/notesMasters/notesMaster1.xml" Id="R6fd3266a1d584a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b559d51a1c4a5b" /><Relationship Type="http://schemas.openxmlformats.org/officeDocument/2006/relationships/notesMaster" Target="/ppt/notesMasters/notesMaster1.xml" Id="R9882aa54203a49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ee42e37ff74ff4" /><Relationship Type="http://schemas.openxmlformats.org/officeDocument/2006/relationships/notesMaster" Target="/ppt/notesMasters/notesMaster1.xml" Id="R551873ba2e4c4f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7fd5a5ed27409a" /><Relationship Type="http://schemas.openxmlformats.org/officeDocument/2006/relationships/notesMaster" Target="/ppt/notesMasters/notesMaster1.xml" Id="R09616c5e91324f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128476577c4603" /><Relationship Type="http://schemas.openxmlformats.org/officeDocument/2006/relationships/notesMaster" Target="/ppt/notesMasters/notesMaster1.xml" Id="R5a0279ae091c40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5d9f98bfbc4b65" /><Relationship Type="http://schemas.openxmlformats.org/officeDocument/2006/relationships/notesMaster" Target="/ppt/notesMasters/notesMaster1.xml" Id="R0d3d7863ef8445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20865c356b4dc7" /><Relationship Type="http://schemas.openxmlformats.org/officeDocument/2006/relationships/notesMaster" Target="/ppt/notesMasters/notesMaster1.xml" Id="R5a674e2109cb44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third acting은 화면 제작자가 바로 움직일 수 있도록 정보 구조, 플로우, 화면 상태, 기록 데이터를 정리하는 단계다.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개발자가 필요한 것은 멋진 컨셉 설명보다 화면 단위, 상태 단위, 저장할 데이터, 검토할 질문이다.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플로우는 선형이지만 안전 입력은 언제든 중간 분기로 들어올 수 있어야 한다. 개발 인계 시 이 분기를 놓치지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IA를 보여주되 MVP 범위는 작게 잡는다. 운영/설정은 당장 구현하지 않아도 데이터 구조를 미리 생각해야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환자 시작 화면은 운동 라이브러리보다 오늘 수행할 수 있는 미션 중심이어야 한다. 위험도가 있거나 검토가 필요한 운동은 명확히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수행 화면은 세 요소가 중요하다. 무엇을 하는지, 지금 어떤 반응이 돌아오는지, 언제든 쉬거나 중단할 수 있는지다.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UI/UX 기획에서 상태 설계는 중요하다. 버튼이 보이는 위치만이 아니라 각 상태에서 무엇을 저장하고 어떤 화면으로 이동하는지를 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완료 화면은 게이미피케이션 점수판처럼 보이면 치료 효과를 암시할 수 있다. 수행 요약과 저장 안내 중심으로 설계한다.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치료사 화면은 환자 화면과 다르다. 화려한 피드백보다 세션 근거와 다음 확인 사항이 중요하다.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인계를 위해 최소 데이터 엔티티를 잡는다. 아직 DB 설계가 아니라 화면 흐름을 저장 가능한 데이터로 바꾸는 기준이다.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실무 개발 범위를 작게 자르는 장표다. 해야 할 것과 하지 않을 것을 분명히 해야 프로젝트가 커지지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장은 인계 전 질문이다. 이 질문들이 답을 얻으면 개발자는 첫 프로토타입 범위를 잡을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d23e38ec94c6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8581ee18ba54684" /><Relationship Type="http://schemas.openxmlformats.org/officeDocument/2006/relationships/slideLayout" Target="/ppt/slideLayouts/slideLayout2.xml" Id="R925f0bf4f8e54a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5f0bf4f8e54a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c0b9f4afbe4426" /><Relationship Type="http://schemas.openxmlformats.org/officeDocument/2006/relationships/notesSlide" Target="/ppt/notesSlides/notesSlide1.xml" Id="R583a37d418a240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eebfeb142d4d18" /><Relationship Type="http://schemas.openxmlformats.org/officeDocument/2006/relationships/notesSlide" Target="/ppt/notesSlides/notesSlide2.xml" Id="Rbf18ab3e186a4e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d1dda58676443c" /><Relationship Type="http://schemas.openxmlformats.org/officeDocument/2006/relationships/notesSlide" Target="/ppt/notesSlides/notesSlide3.xml" Id="R66ff00cde35f4b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509c9640a24919" /><Relationship Type="http://schemas.openxmlformats.org/officeDocument/2006/relationships/notesSlide" Target="/ppt/notesSlides/notesSlide4.xml" Id="Rf37173d9d3b04f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0602df86534dc6" /><Relationship Type="http://schemas.openxmlformats.org/officeDocument/2006/relationships/notesSlide" Target="/ppt/notesSlides/notesSlide5.xml" Id="Ra29880135d724b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136e175d2c4521" /><Relationship Type="http://schemas.openxmlformats.org/officeDocument/2006/relationships/notesSlide" Target="/ppt/notesSlides/notesSlide6.xml" Id="R92785481476746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b04ba26b354d8a" /><Relationship Type="http://schemas.openxmlformats.org/officeDocument/2006/relationships/notesSlide" Target="/ppt/notesSlides/notesSlide7.xml" Id="R0363c83709ee43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15f4aa16d34bac" /><Relationship Type="http://schemas.openxmlformats.org/officeDocument/2006/relationships/notesSlide" Target="/ppt/notesSlides/notesSlide8.xml" Id="R59bbbdf9f67b43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8ef3f7d8a7437c" /><Relationship Type="http://schemas.openxmlformats.org/officeDocument/2006/relationships/notesSlide" Target="/ppt/notesSlides/notesSlide9.xml" Id="R8d805a653aa543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6788ddfe694ed0" /><Relationship Type="http://schemas.openxmlformats.org/officeDocument/2006/relationships/notesSlide" Target="/ppt/notesSlides/notesSlide10.xml" Id="R598170502cb14f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3a715ff4244910" /><Relationship Type="http://schemas.openxmlformats.org/officeDocument/2006/relationships/notesSlide" Target="/ppt/notesSlides/notesSlide11.xml" Id="R50e22cbf99904e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13934dcc434409" /><Relationship Type="http://schemas.openxmlformats.org/officeDocument/2006/relationships/notesSlide" Target="/ppt/notesSlides/notesSlide12.xml" Id="Rc17e1457045f4c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BEE787-2EB3-4CEF-88F4-21408B2D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EAF8D-90FF-4EE1-B669-D3902612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7239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third acting | UI/UX 개발 인계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37901-82B7-4B65-908C-E64007EB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1905000"/>
            <a:ext cx="9620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30초 미션을</a:t>
            </a:r>
          </a:p>
          <a:p xmlns:a="http://schemas.openxmlformats.org/drawingml/2006/main">
            <a:pPr algn="l">
              <a:defRPr sz="4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실제 화면으로 옮기는</a:t>
            </a:r>
          </a:p>
          <a:p xmlns:a="http://schemas.openxmlformats.org/drawingml/2006/main">
            <a:pPr algn="l">
              <a:defRPr sz="4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UI/UX 기획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E92FB-C0A6-4D15-8ED1-1BE35E90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9149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실무 개발자가 화면, 상태, 기록 데이터, 검토 지점을 바로 잡을 수 있도록 정리한 인계용 PPT입니다.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55D6B-9232-4782-8637-7C59F895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0" y="1352550"/>
            <a:ext cx="4953000" cy="74295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111A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B7CCA-D51F-4BCD-935E-DF71FC7B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7650" y="1809750"/>
            <a:ext cx="4267200" cy="65151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CD442-D332-411F-AA78-3FFE229E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0" y="2381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오늘의 미션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8868D-C956-4E4D-8F09-C7B53B40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0" y="3009900"/>
            <a:ext cx="3238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팔을 앞으로</a:t>
            </a:r>
          </a:p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천천히 뻗기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05AC4-F9B2-410C-AF73-14CF2897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06300" y="46101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7C633-7541-4616-B942-B2766892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7300" y="49911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A3343-2AB0-43BD-94BC-AD41A081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0" y="49530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18초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D15A6-AB53-4D71-8C3D-CF5C0374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1050" y="6934200"/>
            <a:ext cx="1562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쉬어가기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9C4C8-3610-4F36-9663-7452C9CA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0" y="6934200"/>
            <a:ext cx="1562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중단 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894F6-2915-4BDE-944A-268D2700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0" y="88963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환자 화면과 기록 화면을 분리해서 설계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306DD-55EE-4B2E-B4FB-DC94815D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4248C-EABC-4A4E-9CC4-96F819C0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352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샘플 PPT 이후 단계: UI/UX 기획을 실무 개발 인계 자료로 정리</a:t>
            </a:r>
          </a:p>
        </p:txBody>
      </p:sp>
    </p:spTree>
    <p:extLst>
      <p:ext uri="{BB962C8B-B14F-4D97-AF65-F5344CB8AC3E}">
        <p14:creationId xmlns:p14="http://schemas.microsoft.com/office/powerpoint/2010/main" val="4873163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63DC04-9F5F-498A-B177-69F5E78D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67A0F-5E87-4B80-A3E9-7D0DA8F3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작업 범위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6A00B26-CDCA-4BFE-85D5-91E8B653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52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이번 PPT의 목적은 화면을 예쁘게 그리는 것이 아니라 개발 단위를 나누는 것이다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DAE6A-C329-46CA-A175-2B456C72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4A343-7C0A-4635-A6FC-D98CA27A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076450"/>
            <a:ext cx="1276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second acting은 콘텐츠 방향을 정리했고, third acting은 그 방향을 화면과 데이터 흐름으로 바꿉니다.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161F8-1BE0-4EF2-9B55-BDAA6DE3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467100"/>
            <a:ext cx="6858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19050">
            <a:solidFill>
              <a:srgbClr val="E2F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CBBD9-921F-48D0-AEAB-9212640A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695700"/>
            <a:ext cx="1143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29AD3-8564-44FB-90F7-BB9E803A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3733800"/>
            <a:ext cx="605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환자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E3211-DF3E-4CC4-8EB1-C6043512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4267200"/>
            <a:ext cx="605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오늘의 미션, 수행 중 반응, 휴식/중단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4CE49-717B-459F-BD9B-4BE5E163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3467100"/>
            <a:ext cx="6858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19050">
            <a:solidFill>
              <a:srgbClr val="E8EE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CAE71-B8EC-475D-B6F1-389E40B0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3695700"/>
            <a:ext cx="1143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70AED3-7DE2-4B78-974F-A6567DE0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3733800"/>
            <a:ext cx="605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치료사 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4BF38-B8E3-4F00-9652-A34D35F6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4267200"/>
            <a:ext cx="605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세션 기록, 관찰 메모, 다음 세션 참고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F1034-6422-471E-AC8B-BFBA016C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5848350"/>
            <a:ext cx="6858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19050">
            <a:solidFill>
              <a:srgbClr val="FFE8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70B5E-7922-4030-9898-7A160778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6076950"/>
            <a:ext cx="1143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5CDF4-3A13-4D3B-835C-17DEC693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6115050"/>
            <a:ext cx="605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운영/설정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4C0007-00A5-4ABC-9E04-DE849EA5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6648450"/>
            <a:ext cx="605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운동 템플릿, 안전 문구, 기록 항목 관리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72F714-0B93-4143-A1BB-E91651CF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5848350"/>
            <a:ext cx="6858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EEF2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A2936-866F-42F0-9E20-EEBFCE5E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3100" y="6076950"/>
            <a:ext cx="1143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B1C576-DDD1-4E92-B333-09D64AFA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6115050"/>
            <a:ext cx="6057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검토 레이어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FF502-70E8-4878-ACB3-E67632E1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6648450"/>
            <a:ext cx="605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재활 전문가·RA 확인이 필요한 문장과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BCB978-A06B-4406-ACBC-5E19AC80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8610600"/>
            <a:ext cx="1485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결론: 개발 인계 자료는 화면 목업 + 상태 정의 + 기록 데이터 + 확인 질문을 함께 가져야 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422A9A-BBE4-4AF3-98FD-2A6EE615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5E256-8D52-4522-8B38-A19A18E8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352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7296236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18A4C7-9682-4926-A37F-8D23435E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2C281-1F91-4903-8788-8B468F35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핵심 플로우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F985D0E6-C1BE-4090-806B-A4D27F23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52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30초 미션의 기본 사용자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51BCE-72AC-40D9-B5A2-B17CC742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712E9-0EA6-4B2B-8EC0-CB24C387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524250"/>
            <a:ext cx="2152650" cy="2190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CE4D3-718F-483F-AE7A-B65E7992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714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B2F5C-D6DF-4054-9D47-3F4673BF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275" y="3810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85E3B-35E0-4A5B-85DD-1FBB7252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3790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A36B"/>
                </a:solidFill>
                <a:latin typeface="Pretendard"/>
                <a:ea typeface="Pretendard"/>
                <a:cs typeface="Pretendard"/>
              </a:defRPr>
            </a:pPr>
            <a:r>
              <a:t>운동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26472-755D-42F7-89FA-F2FCECD4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45720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오늘 수행할 운동을 고른다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479C8-F396-475A-8FEB-246DB363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800" y="44577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26285-BA3A-43DB-A4AE-A218802B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3524250"/>
            <a:ext cx="2152650" cy="2190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F50EB-B76F-4344-B449-44A037A8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3714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E1CEB-DFA9-4F82-956D-1697CB39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3810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18044-CEDB-4990-AA79-2F667541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3790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미션 안내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D8C52-5F09-4302-A31F-B02615E2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5720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목표·시간·주의를 확인한다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7F675-3BA2-479D-A126-949ADECA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5050" y="44577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27591-275E-4EB6-8472-597D1279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524250"/>
            <a:ext cx="2152650" cy="2190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03E40-2F5A-4DA7-A9C2-55F5676A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3714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E23CA6-3330-43FC-A2C2-0DC52ABE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3810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175C1-6406-46D0-93A5-79443770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8550" y="3790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C344"/>
                </a:solidFill>
                <a:latin typeface="Pretendard"/>
                <a:ea typeface="Pretendard"/>
                <a:cs typeface="Pretendard"/>
              </a:defRPr>
            </a:pPr>
            <a:r>
              <a:t>수행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1BF732-8CF8-44CD-9A97-DB45351E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45720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화면 반응을 보며 움직인다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983AB-D385-4A9C-B718-D63CDFB2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7300" y="44577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6004D-5CFD-4B65-8978-DA625B99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524250"/>
            <a:ext cx="2152650" cy="2190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36663C-A415-45F2-B4F3-BB607F78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3714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D728C8-BF00-49DD-96B2-0621970D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3810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2737BC-1597-4707-A6F9-18C16CA0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10800" y="3790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휴식/중단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0F3F2-E91C-45B7-912B-B0BBA887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450" y="45720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피로·통증 입력이 가능하다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F82A20-0E54-4E86-BFAC-F4ADA8B8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39550" y="44577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262A18-A08A-4344-BC73-EB27EC35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2000" y="3524250"/>
            <a:ext cx="2152650" cy="2190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2CC493-743B-4ECB-ADAD-05C39C69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3450" y="3714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B62C38-229F-4BB8-B135-CFAF5EBC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87275" y="3810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2E2701-408E-4478-B5E4-A6F89971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3050" y="3790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완료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7E36C6-ED8F-4385-BBE5-CAD05836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45720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결과와 다음 안내를 본다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71CC71-52BC-4F22-9FB2-681A6CFD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01800" y="44577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50E68E-ACA9-4B3B-8995-2A54929D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4250" y="3524250"/>
            <a:ext cx="2152650" cy="2190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4DB8CC-99DC-4D68-A79C-6A75915F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25700" y="3714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632EAE-8C3B-4ACF-A7C6-57BA3563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9525" y="3810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80A849-2B53-4A7E-8275-ED9A074A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35300" y="3790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기록 확인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3AE77D-762F-47E9-A742-35DDC622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20950" y="457200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치료사가 세션을 검토한다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54D71A-920B-4955-B3C8-22CF2F99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6705600"/>
            <a:ext cx="1409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BA55F4-EE71-4A17-AEAF-7E3C2146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8400" y="6896100"/>
            <a:ext cx="1341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중요 분기: 통증·피로·어지러움 입력 시 미션을 계속 진행하지 않고 안전 안내/기록 저장으로 이동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1ED8DA-4FAF-4B81-B7BE-B0BC5927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8115300"/>
            <a:ext cx="1333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개발 기준: 모든 화면은 `계속`, `쉬어가기`, `중단 입력`, `기록 저장` 상태를 명확히 가져야 합니다.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F80204-9023-4F7D-93B8-D2A1C27A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144C8B-F926-486E-B89C-48DB576B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352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8429862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7AE11D-724C-4F03-A943-54F0D775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39E8B-2EAD-42EE-992D-CB2CFF45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IA / 화면 목록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F2EC82A-E479-4573-A36E-8D215901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52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화면 지도는 환자용·치료사용·운영용으로 분리한다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6638B-585B-42F1-A3E5-2332F229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AF428-CC51-4E41-A765-915754B9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667000"/>
            <a:ext cx="4381500" cy="53340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B7E8F-58BA-4838-AC5A-6905438B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667000"/>
            <a:ext cx="4381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8552B-EB6A-4EB5-8C80-4386EBC2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28575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환자용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21DEB-7686-4441-8B40-3E8675CA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373380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3DF9C-808F-4460-836E-74C82F1F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385762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CE0D1E-24DC-478C-8403-CB0B4A8C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445770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7C821-B933-48D5-8EFA-D4E8C146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458152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미션 안내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A9DB5-CE7C-4C4F-8FA6-98298A9A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518160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95E1C-0F93-4A1D-8583-4BB72461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30542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수행 화면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ECFF5-8B29-4353-80B9-D081A968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590550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EEFAD-14C9-427A-A6FD-9F2827BB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602932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휴식/중단 입력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F0E88-1D87-4483-BF88-EA814420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662940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C1796-4977-4C6E-A2F8-85C6390A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675322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완료 화면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2211F-7785-4B8B-B49D-FEA79B2B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667000"/>
            <a:ext cx="4381500" cy="53340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FB90F-DB70-499E-8AAB-1B77CD0F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667000"/>
            <a:ext cx="4381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C0BD4-D0C7-4D9A-8ED8-8537E8FC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28575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치료사용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8DAEC-8D12-4C96-800D-42BD06FB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373380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168889-0BFA-4FC5-A242-E93ADBC1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385762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세션 목록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767F1-6116-4A63-BB8D-8C66BC8B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445770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E6F504-5D2D-4C40-888F-053566AE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458152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세션 상세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85248B-5B75-4BC6-84C6-34A4DB5E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518160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5A23C1-6853-424E-9EC3-57076660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530542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관찰 메모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4DF990-4DE6-4C89-97C9-E98F577E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590550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FE630C-B5A8-41E8-A196-C62ADCF4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602932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추이 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8784FA-7270-47F8-A1D4-A929885F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662940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4CA26-7DC7-4065-A18A-2FD026AC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675322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다음 세션 참고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4BA9A8-ED34-4FFE-8E6D-D9DF18F4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0" y="2667000"/>
            <a:ext cx="4381500" cy="53340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9A8B18-0E57-4CBF-BAD4-E62F19B5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0" y="2667000"/>
            <a:ext cx="4381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AB2FC9-EE66-41A1-8A46-29E4EA6C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0" y="2857500"/>
            <a:ext cx="381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운영/설정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D11032-6827-4145-9721-F5083528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900" y="373380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ED8983-5E04-4B8E-B818-E21D0F7C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385762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 템플릿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E6C48A-BC28-4619-9A28-62CC3244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900" y="445770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05861A-1D1C-455F-8891-75D2BFBD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458152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문구 관리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F07305-17A4-41DC-BD11-F26323B9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900" y="518160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93B488-4356-4EE1-8443-C555D814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530542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안전 기준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AE3F06-874F-468B-8368-A3AAA211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900" y="590550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F97731-49A8-4155-8BBA-20238981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602932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사용 현황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2B9DBD-FCB9-4E71-A6DC-DA05E832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5900" y="6629400"/>
            <a:ext cx="350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C1089E-478E-4695-AC1D-F52C497C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675322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검토 질문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27525C-DA40-4F90-BA3B-7E5932FC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8610600"/>
            <a:ext cx="1428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처음 개발 범위는 환자용 5개 화면 + 치료사용 세션 상세 1개 화면으로 좁혀도 충분합니다.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FBE1A6-8BE5-4F49-9815-4A495CB0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813AFA-9A5E-4D7B-8856-4C1F03AB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352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675057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E37FAB-73D4-4EDE-87D8-CE537A88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01A7D-9A67-4D8E-AA1D-0B33E20B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환자용 화면 1</a:t>
            </a:r>
          </a:p>
        </p:txBody>
      </p:sp>
      <p:sp>
        <p:nvSpPr>
          <p:cNvPr id="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421656FA-A7CF-4B25-BD64-AAC801EE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52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환자 시작 화면은 선택보다 안심을 먼저 준다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93F02-5D8F-4725-AB32-D173795A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9CDAF-46B9-4B2A-8219-CFCFD29B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0" y="1562100"/>
            <a:ext cx="3810000" cy="7048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111A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6528D-E02A-4038-94CD-176F5348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1828800"/>
            <a:ext cx="3429000" cy="65151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9B701-AB3D-4CE7-A8B1-66A031E6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9600" y="2171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오늘 할 수 있는 미션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0A546-E70B-4166-B16C-30D08D03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9600" y="2857500"/>
            <a:ext cx="29718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4E349-8A58-4549-BFFA-27A62E12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30480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A36B"/>
                </a:solidFill>
                <a:latin typeface="Pretendard"/>
                <a:ea typeface="Pretendard"/>
                <a:cs typeface="Pretendard"/>
              </a:defRPr>
            </a:pPr>
            <a:r>
              <a:t>팔 앞으로 뻗기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03F8B-7BB9-4B50-B30B-F0977DF1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3409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30초 · 앉아서 수행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57147-FF6C-43AD-9758-8D81E815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9600" y="4171950"/>
            <a:ext cx="29718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2E5C4-7E6C-46CB-B644-1030AFB3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4362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손 쥐었다 펴기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F6FC9-4325-4A6B-B249-649ECB05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47244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20회 · 피로 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39F54-A78A-4265-96A8-97C72CB2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9600" y="5486400"/>
            <a:ext cx="29718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E03EC-94F8-4C09-94A3-5568E8A8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56769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무릎 펴기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56F61-8363-43C9-A796-291F4A49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6038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전문가 확인 후 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A214F-F498-4DC6-9B31-4067B656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39600" y="7219950"/>
            <a:ext cx="2971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시작하기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6B3C87-5D6A-43D0-9B13-5CD0D02F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3143250"/>
            <a:ext cx="4381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19050">
            <a:solidFill>
              <a:srgbClr val="E2F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E12187-7A02-44C0-A104-55C862F6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371850"/>
            <a:ext cx="114300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D71B6-7FF1-4731-AA7B-35D97B11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3409950"/>
            <a:ext cx="3581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선택 기준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CFEE27-8C29-4C30-94F5-FF40619E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39433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운동명, 예상 시간, 수행 자세, 전문가 확인 여부를 함께 표시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34B7F4-6DF6-4A9D-B30F-055E6B13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" y="5219700"/>
            <a:ext cx="4381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19050">
            <a:solidFill>
              <a:srgbClr val="FFE8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E4B06-965B-48FC-9A2A-C7FF28C9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5448300"/>
            <a:ext cx="114300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A868A-464C-49F7-967E-451A9CE8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5486400"/>
            <a:ext cx="3581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주의 기준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01CF8A-23E4-417B-9AC0-8289BE36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601980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무릎·체중 이동처럼 위험도가 높은 운동은 검토 상태를 드러냄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A462E-C756-4AF6-A898-DEC54DD7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4171950"/>
            <a:ext cx="40957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19050">
            <a:solidFill>
              <a:srgbClr val="E8EE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FFC292-6EE4-48BC-83F4-3604DFAD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4400550"/>
            <a:ext cx="114300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9F15FD-9953-4EA2-86D7-EB0F3D4F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438650"/>
            <a:ext cx="3295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개발 메모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31E4D5-FEBF-4969-BAFA-3BB010C3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972050"/>
            <a:ext cx="3295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운동 카드에는 `enabled`, `requiresReview`, `recommendedPosture` 상태가 필요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B55E58-419D-4D3B-82A1-87DEBB71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8077200"/>
            <a:ext cx="942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첫 화면의 목표는 많은 운동을 보여주는 것이 아니라, 오늘 해도 되는 미션을 안전하게 고르게 하는 것입니다.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2EA36B-9301-45B5-96FA-93BD4F6F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8D8893-1DAC-44A9-9DCF-B12BB90A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352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091731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EE394C-4080-47FD-985F-123A6E0A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2122B-2196-4E6D-B0CC-5A275C59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환자용 화면 2</a:t>
            </a:r>
          </a:p>
        </p:txBody>
      </p:sp>
      <p:sp>
        <p:nvSpPr>
          <p:cNvPr id="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A81E2C68-3CC2-4F7C-A372-9D022703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52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수행 화면은 목표·반응·휴식 버튼이 한눈에 보여야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6EB5C-ABF0-4F1A-A2BA-EBF18711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F01A3-D633-4DD7-8B8D-E766C3CD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1466850"/>
            <a:ext cx="4095750" cy="72390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111A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46CE5-0E48-44C3-A968-05754A3E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1733550"/>
            <a:ext cx="3714750" cy="670560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0CDC9-F8F8-45A1-85BB-F1064DAB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8100" y="2209800"/>
            <a:ext cx="323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팔을 앞으로 천천히 뻗기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C9CF3-0AF9-4C0E-90CA-1CF5317A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8100" y="31051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남은 시간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52F09-CE7D-4612-9C1E-D0F5CEFF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8100" y="34290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18초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5C53C-5B30-479F-B545-72B797BA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44577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4CACD-539F-4B0E-996F-840E48D5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49911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94041-33FC-42A7-AE9F-D509FB04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68580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목표 지점에 가까워지고 있어요.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81228-3D3D-4AA2-B070-320D7D3A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58100" y="773430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쉬어가기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FEB5F-CAC1-479B-A778-F1988805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2600" y="773430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중단 입력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C3367-7F4A-4AA5-A4C8-08657714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143250"/>
            <a:ext cx="4191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5E3DA-CE1F-4947-AFAF-050B9B00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371850"/>
            <a:ext cx="1143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EE94C-1FBC-4D30-9713-D9D180ED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340995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목표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8A088-0B25-4CBC-BF54-83365F47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3943350"/>
            <a:ext cx="3390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오늘 해야 할 동작과 횟수/시간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ED824-1BC7-4788-9F60-280F3195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5143500"/>
            <a:ext cx="4191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A4B62C-543D-4215-B537-5689B4C6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372100"/>
            <a:ext cx="1143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2D3627-DFF7-4742-9A3A-CC8B722E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541020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시간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E9E00-A3EC-4190-81E6-F4CAB85B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5943600"/>
            <a:ext cx="3390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남은 시간을 크게 표시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71271A-7024-491B-B6BC-235AD93C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0" y="3143250"/>
            <a:ext cx="4191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CBE95-D6B7-4DAB-B106-A7EF3F2F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34850" y="3371850"/>
            <a:ext cx="1143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5922D0-06D2-408F-B998-944440AC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340995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반응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041770-9132-4C8B-A654-AE6D5E9D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3943350"/>
            <a:ext cx="3390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움직임을 빛·크기·진행률로 표현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039854-2BE3-4D70-8997-A7156000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6250" y="5143500"/>
            <a:ext cx="4191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82C9DC-C845-4DF1-B794-4B49640E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34850" y="5372100"/>
            <a:ext cx="114300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D30DA5-D707-428F-BBBA-81CFD927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541020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안전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41C334-E878-40CA-A311-7950ED89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39650" y="5943600"/>
            <a:ext cx="3390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쉬어가기와 중단 입력을 항상 노출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11833-4016-4F50-8710-F0DF169E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8915400"/>
            <a:ext cx="1371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성공/실패보다 `도달`, `휴식`, `다시 시도` 중심으로 피드백 문구를 설계합니다.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007EBD-AF43-45D7-A9D6-481EF63E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62042F-58F1-4795-8A0E-1E669611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352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6133641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B6904-EDD9-491F-ABA2-B8264554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46E85-2519-4DA2-A277-1F155C65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상태 / 인터랙션</a:t>
            </a:r>
          </a:p>
        </p:txBody>
      </p:sp>
      <p:sp>
        <p:nvSpPr>
          <p:cNvPr id="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B3BDD464-AD07-431E-BB0A-8625F883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52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상태 설계는 재미보다 안전 분기를 먼저 잡아야 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4B876-C6D9-47EC-ABC6-AD13F82D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B828B-1551-46F6-9CF6-48F9B379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143250"/>
            <a:ext cx="2667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19050">
            <a:solidFill>
              <a:srgbClr val="24A3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2A027-4EF4-4FE0-AC62-C6CD4C5B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3429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A36B"/>
                </a:solidFill>
                <a:latin typeface="Pretendard"/>
                <a:ea typeface="Pretendard"/>
                <a:cs typeface="Pretendard"/>
              </a:defRPr>
            </a:pPr>
            <a:r>
              <a:t>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70152-B972-4084-90A4-DE3D7DB4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98145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준비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4818B-9333-4A7A-9361-16F5C15F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47625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시작 전 안내·자세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82A98-0351-4958-A076-71CE33C7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42481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4D232-66B0-49F9-A5F7-048695D1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3143250"/>
            <a:ext cx="2667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19050">
            <a:solidFill>
              <a:srgbClr val="356A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6D8A1-6030-49A2-AFEF-A9287CBB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3429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ACTIVE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5E7FE-4DCA-4638-905C-CEC749A9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398145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수행 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D3B99-F79A-43E6-AEF7-20B8E476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47625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타이머·목표 반응·반복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1B1C1-E7B1-4EDA-9B25-679434C6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481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A2D17-280B-4FB2-A125-4EBBF10B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3143250"/>
            <a:ext cx="2667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5CC"/>
          </a:solidFill>
          <a:ln xmlns:a="http://schemas.openxmlformats.org/drawingml/2006/main" w="19050">
            <a:solidFill>
              <a:srgbClr val="F6C3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97D73-31F5-4A7D-8FF5-E748A30F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3429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CC"/>
          </a:solidFill>
          <a:ln xmlns:a="http://schemas.openxmlformats.org/drawingml/2006/main" w="0">
            <a:solidFill>
              <a:srgbClr val="FFF5C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C344"/>
                </a:solidFill>
                <a:latin typeface="Pretendard"/>
                <a:ea typeface="Pretendard"/>
                <a:cs typeface="Pretendard"/>
              </a:defRPr>
            </a:pPr>
            <a:r>
              <a:t>REST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17AEF-04B1-4BFF-8BD8-15FA12BE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398145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CC"/>
          </a:solidFill>
          <a:ln xmlns:a="http://schemas.openxmlformats.org/drawingml/2006/main" w="0">
            <a:solidFill>
              <a:srgbClr val="FFF5C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쉬어가기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D1486-C8EA-4F47-924A-A803D052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47625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CC"/>
          </a:solidFill>
          <a:ln xmlns:a="http://schemas.openxmlformats.org/drawingml/2006/main" w="0">
            <a:solidFill>
              <a:srgbClr val="FFF5C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타이머 정지·휴식 안내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45B232-A923-4668-845F-EBB697C3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42481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9D7E26-35F2-4C13-B6A9-58273FBD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3143250"/>
            <a:ext cx="2667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19050">
            <a:solidFill>
              <a:srgbClr val="FF6B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7B6CB-4C48-4267-BE87-B2F833D0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06200" y="3429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STOPPED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89F46B-4A66-4657-8501-97066E11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82400" y="398145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중단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F2206A-33D6-4693-88E5-844F7F51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3350" y="47625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통증/피로/어지러움 사유 입력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696BD-B22C-4B95-A309-F16EEA91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0" y="424815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F437E3-586B-4DAC-866D-D73BE377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73250" y="3143250"/>
            <a:ext cx="2667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0F6A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99AA5B-7C12-4F66-9097-D4E170BB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39950" y="3429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COMPLETE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352592-0D30-4F44-9390-81A9AEBC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16150" y="398145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완료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1FE0D8-3B17-4824-B283-7D40F5EB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97100" y="47625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세션 요약·기록 저장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5682C6-FA76-45BF-93CB-05D4E644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6705600"/>
            <a:ext cx="13639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E8E5"/>
          </a:solidFill>
          <a:ln xmlns:a="http://schemas.openxmlformats.org/drawingml/2006/main" w="0">
            <a:solidFill>
              <a:srgbClr val="FFE8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966C56-5654-449D-99FB-75A1D751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6972300"/>
            <a:ext cx="1283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5"/>
          </a:solidFill>
          <a:ln xmlns:a="http://schemas.openxmlformats.org/drawingml/2006/main" w="0">
            <a:solidFill>
              <a:srgbClr val="FFE8E5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483B"/>
                </a:solidFill>
                <a:latin typeface="Pretendard"/>
                <a:ea typeface="Pretendard"/>
                <a:cs typeface="Pretendard"/>
              </a:defRPr>
            </a:pPr>
            <a:r>
              <a:t>통증·피로·어지러움 입력은 별도 이벤트로 저장하고, 다음 화면은 `STOPPED` 또는 `REST`로 제한합니다.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543BF1-ACCB-41E2-996A-92BE7BF0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7900" y="8420100"/>
            <a:ext cx="1381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개발 인계 포인트: 상태 전이는 UI 문구, 버튼 활성화, 기록 저장 규칙과 함께 정의되어야 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13F7BD-1F81-41D8-A6B2-2D210E08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18C08C-E23D-437F-8FA4-F8A9D476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352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7662959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387692-D630-44BC-831D-0AAB1C37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11E35-C361-48C7-AEC0-C1AEA8FF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환자용 화면 3</a:t>
            </a:r>
          </a:p>
        </p:txBody>
      </p:sp>
      <p:sp>
        <p:nvSpPr>
          <p:cNvPr id="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FEA1E3E4-E33D-4273-AE20-BB393978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52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완료 화면은 점수판이 아니라 다음 판단을 돕는 요약이다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70867-6C5D-482C-9326-28B073F8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7948F-FAD7-43B0-88AD-B53445E9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1562100"/>
            <a:ext cx="3810000" cy="7048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111A2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7A0D4-0E07-48E2-8EF0-A86876FE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0" y="1828800"/>
            <a:ext cx="3429000" cy="65151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10512-4B03-427C-AFD5-5A9CBCF4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22098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미션 완료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09EDE-F2AB-4C91-BB44-82FE0565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20600" y="29146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436B2-5E0C-45A6-8A46-0509E1DD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9200" y="333375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A36B"/>
                </a:solidFill>
                <a:latin typeface="Pretendard"/>
                <a:ea typeface="Pretendard"/>
                <a:cs typeface="Pretendard"/>
              </a:defRPr>
            </a:pPr>
            <a:r>
              <a:t>10회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0EEC7-FCF9-427C-B351-EF841F7D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4762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수행 시간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B8364-F2B5-407D-9BF0-C54AECC2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0" y="47625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30초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E83F5-5850-4AF5-B727-69A8519A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51816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3FD92-1428-4617-8E0A-7E78C731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54483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중단 사유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59EE5-D574-4A7F-B1A2-0D5ACC0B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0" y="54483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72998-2F50-49FD-8382-9864FC6C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58674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C2F07-6189-4977-AC4D-3D2C61FA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61341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피로도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5716E-3AC7-4491-9724-7BDFE50A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0" y="61341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2 /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FB258-D0AD-4283-8DD0-EA6EE118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8200" y="65532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6453A-A10A-42B6-8AC0-8DB6BBAB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0100" y="737235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저장하고 나가기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53DBF-FB44-4CBF-98BA-07F25AD4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276600"/>
            <a:ext cx="4572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19050">
            <a:solidFill>
              <a:srgbClr val="E2F7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A5661C-328C-4A61-A5FD-62964A5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505200"/>
            <a:ext cx="11430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3DF7A0-502C-4A2A-9578-5DC6EE6D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3543300"/>
            <a:ext cx="3771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환자에게 보여줄 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67D08B-265F-42BC-90A4-E8FB5734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4076700"/>
            <a:ext cx="377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수행 횟수, 시간, 쉬어가기 여부, 다음 안내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DB246B-888A-42D2-8015-B61CEF6F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5353050"/>
            <a:ext cx="4572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19050">
            <a:solidFill>
              <a:srgbClr val="FFE8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075D74-86A4-48BC-8422-49CAECB5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581650"/>
            <a:ext cx="11430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386D06-0434-4007-BECE-EE75DD28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5619750"/>
            <a:ext cx="3771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환자에게 숨길 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ADC7C9-46E1-40EF-8290-4C86CB0E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6153150"/>
            <a:ext cx="377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진단처럼 보이는 해석, 회복/향상 단정 표현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03D61A-6E59-4CDF-95EE-3874B793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4305300"/>
            <a:ext cx="4191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19050">
            <a:solidFill>
              <a:srgbClr val="E8EE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7FB5-D13C-4171-9C33-257B97F8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4533900"/>
            <a:ext cx="11430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19AA97-3C23-4611-9757-23058607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4572000"/>
            <a:ext cx="3390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기록 저장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946111-ABBB-4867-AE8C-8FAE675D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5105400"/>
            <a:ext cx="3390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세션 종료 시 이벤트 로그와 요약 값을 함께 저장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6BC138-5194-454C-8ACE-4B3705BD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819150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완료 화면의 문장은 `잘했다`보다 `기록되었습니다`, `다음에 참고합니다`에 가깝게 설계합니다.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9CCDAF-7DB7-4CE0-8153-9CF140F2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95C4E8-BBEB-40A6-A664-A06ED37A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352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218919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0D06A0-5D1B-4CA4-955C-303C2A69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ED9DC-2F35-443C-A9AF-BF785942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치료사용 화면</a:t>
            </a:r>
          </a:p>
        </p:txBody>
      </p:sp>
      <p:sp>
        <p:nvSpPr>
          <p:cNvPr id="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CC9B93B2-5FAC-4BD8-8FBA-AC43C312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52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치료사 화면은 한 세션의 관찰 근거를 빠르게 보여준다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56078-8656-4D69-9A0E-BE34C504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87B7A-4CB1-4BF0-ABDE-16168FBE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2476500"/>
            <a:ext cx="11239500" cy="571500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74F1D-0FE4-4C15-B206-59EDCDB6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2476500"/>
            <a:ext cx="11239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111A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9AA23-3C63-4854-B179-8977A851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647950"/>
            <a:ext cx="1070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4"/>
          </a:solidFill>
          <a:ln xmlns:a="http://schemas.openxmlformats.org/drawingml/2006/main" w="0">
            <a:solidFill>
              <a:srgbClr val="111A2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세션 상세 / 팔 앞으로 뻗기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D60AF-78BF-4CF1-B057-0B904847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3429000"/>
            <a:ext cx="2095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E7614-CC12-4842-923D-AF4B82D4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3695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반복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8CF16-7A6D-4330-AA71-8E4AF680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40576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A36B"/>
                </a:solidFill>
                <a:latin typeface="Pretendard"/>
                <a:ea typeface="Pretendard"/>
                <a:cs typeface="Pretendard"/>
              </a:defRPr>
            </a:pPr>
            <a:r>
              <a:t>10회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F8EBA-596C-4254-8B5D-BA8D28C1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3429000"/>
            <a:ext cx="2095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D8C82-40D9-45D7-9884-05EB0228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695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수행 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D002B-FC8D-49A5-ACD8-7BDB7C5A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40576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30초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EF559-50D2-494C-B7A4-95224D28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3429000"/>
            <a:ext cx="2095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5CC"/>
          </a:solidFill>
          <a:ln xmlns:a="http://schemas.openxmlformats.org/drawingml/2006/main" w="0">
            <a:solidFill>
              <a:srgbClr val="FFF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750F4-6B83-4A1C-8A1C-6B65D8C4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3695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CC"/>
          </a:solidFill>
          <a:ln xmlns:a="http://schemas.openxmlformats.org/drawingml/2006/main" w="0">
            <a:solidFill>
              <a:srgbClr val="FFF5C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중단 사유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BCE51-346F-4C0A-8CBB-42ECEB91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40576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CC"/>
          </a:solidFill>
          <a:ln xmlns:a="http://schemas.openxmlformats.org/drawingml/2006/main" w="0">
            <a:solidFill>
              <a:srgbClr val="FFF5C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없음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DEE56B-7BC6-409B-B1F0-57BE641E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3429000"/>
            <a:ext cx="2095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15B1E-5CBE-4B15-9BED-D9871B27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3695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피로도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760E5-9C5F-410C-9C84-350B61BE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40576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2 /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EA60CA-A492-4E42-BF81-B44C9F4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52197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관찰 메모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7E77B5-B5E7-4958-9577-27493428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5676900"/>
            <a:ext cx="9525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39FB8A-E01D-4627-826F-45324FFB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596265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오른쪽 도달 범위가 짧게 나타남. 다음 세션에서 통증 여부 확인 필요.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546B7-A0B4-4C7D-9B2C-642E54CA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7029450"/>
            <a:ext cx="9525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9DA4A-4DC0-4650-8AFC-49F4A13B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7200900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다음 액션: 상담 참고 / 운동 범위 확인 / 중단 기준 재확인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3C5B1B-A1BE-4CB2-B70F-73CF0C02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0" y="3238500"/>
            <a:ext cx="3905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59DE34-CC13-4011-ADCD-08764C7C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2100" y="3467100"/>
            <a:ext cx="1143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742A76-76B5-476E-BF0B-EB07FE1D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6900" y="3505200"/>
            <a:ext cx="3105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사용 목적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1EC460-2200-4765-B77D-61B426CA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6900" y="4038600"/>
            <a:ext cx="3105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진단이나 처방이 아니라 상담과 판단의 참고 자료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DAE11D-A33E-4B1A-AFF0-BEA2B2F2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0" y="5334000"/>
            <a:ext cx="3905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673BFF-7FB5-4426-863E-F4A48C71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2100" y="5562600"/>
            <a:ext cx="1143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CDEC73-338B-4050-9602-CD40F71E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6900" y="5600700"/>
            <a:ext cx="3105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주의 문구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2C5504-6AC2-4DAF-BDF5-17A672D5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6900" y="6134100"/>
            <a:ext cx="3105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좋아졌다보다 변화·중단 사유 중심으로 기록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FDBA1B-9526-4235-A08D-338A4905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699B54-1C9A-4A34-8A78-2D5F6279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352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557681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873698-D265-4AE1-AF09-245FBD17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3B715-ACE1-47A6-9983-65D98953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데이터 / 이벤트</a:t>
            </a:r>
          </a:p>
        </p:txBody>
      </p:sp>
      <p:sp>
        <p:nvSpPr>
          <p:cNvPr id="3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C5416541-51E1-4487-A2B2-05825513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52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개발자가 필요한 최소 데이터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98A2A-2AC5-435C-A305-5FBA3974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096CF-06CF-4DE4-ABDD-67592CE9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5717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702E0-F75C-42BD-90F3-6899CFE6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274320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엔티티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FA46E-DE2D-4516-A2D8-36FCA0DF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2571750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C2003-07C0-4631-8D2C-A3E2E7F3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274320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주요 필드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B6096-0016-4A24-95D6-2547EB07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257175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8219F-135C-4AD8-9017-10234CBC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2743200"/>
            <a:ext cx="3771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solidFill>
              <a:srgbClr val="F6C34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생성 시점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84672-FF63-4DE0-A3A8-A178B095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257175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E6277-40D7-4FF1-AEC6-A04D1050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4300" y="2743200"/>
            <a:ext cx="453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사용 화면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BD832-8B80-4515-92F4-66B116EC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1813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16925-815D-482A-B124-EDBE0F21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4671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Exercise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0BB7E-D8FA-4AA3-8F52-49D80248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318135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EB3F6-20FB-45F0-BC90-AF7ED3E4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3467100"/>
            <a:ext cx="308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id, name, posture, reviewStatus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F7AEB-A71B-434C-B805-F42C101A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318135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582D78-761B-4FBB-B272-01779440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3467100"/>
            <a:ext cx="365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 등록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722DE-7AF2-4882-82CD-73A3B42C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31813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4CCC3-F701-415C-B866-C3231AA6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01450" y="3467100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운동 선택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8A857-8FBD-4F77-9F8A-1EC6E6C3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1719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457CD-FFE9-4E1C-9EA7-37052961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44577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Mission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AFE20-1749-4AD8-BE45-857A9492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417195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26D66F-2B09-4259-B98B-DBD93CD1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4457700"/>
            <a:ext cx="308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duration, target, feedbackCopy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33973-32C6-45A1-9E8D-638AC40D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417195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A6166E-12C5-4036-B0B0-CF0BDEE7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4457700"/>
            <a:ext cx="365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미션 생성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C0EA9B-5B2A-457D-AB58-63D50169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41719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9F7E87-BD9F-4761-88B6-6866EBA9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01450" y="4457700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미션 안내/수행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69FC43-520E-4AD0-A425-CF9AE87D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51625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C57498-F19F-42DA-9EA1-FD33F902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54483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Session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D9DA15-82BF-42C8-9D93-9D17A0A9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516255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BAA841-4B1C-4301-95DF-09AB6917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5448300"/>
            <a:ext cx="308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startedAt, endedAt, status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41AC23-3BA2-40E1-95CC-CF63DBDD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516255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943245-3E3A-4843-BDAF-EE9EC4F2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5448300"/>
            <a:ext cx="365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시작 버튼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AAD79D-F948-470F-A135-E8CC8869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51625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727E4F-6604-4B96-B91B-CD96876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01450" y="5448300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수행/완료/치료사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205694-816E-40CF-AA00-F51B1A6B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61531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60A609-C8C7-4461-9461-AFE5AE50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64389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EventLog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6DEB8A-BC34-4FEC-B616-9B1E948D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615315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3E9946-5E4A-4927-A203-C7B05225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6438900"/>
            <a:ext cx="308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type, timestamp, value, reason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B3ECB8-B76B-4BC7-BD26-E77B9A12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615315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0E9863-151D-4AD5-8C54-0D98F2F0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6438900"/>
            <a:ext cx="365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수행 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982277-3393-47B5-93AE-3555CE2B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61531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C03EDD-6605-4261-8650-9073C6A1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01450" y="6438900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치료사 상세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1009EE-5018-4168-B375-3AD93397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71437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7F6DD2-52AE-4F9C-AED8-7B4261C3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7429500"/>
            <a:ext cx="2514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SafetyInput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A3D504-3BC3-4BD7-AFBF-218310F3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7143750"/>
            <a:ext cx="342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717611-F5D1-4457-8CFA-D6CB7280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1950" y="7429500"/>
            <a:ext cx="3086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pain, fatigue, dizziness, memo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32AF6A-950E-45DE-AC13-CF4BC9E1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714375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A1E25C-F34C-4C50-B8EB-8AF49511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7429500"/>
            <a:ext cx="3657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휴식/중단 입력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947952-1503-4525-918B-E0CD40FA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71437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7F8F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CFE785-21D2-4A23-AF11-F6245E8C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01450" y="7429500"/>
            <a:ext cx="441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완료/치료사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2051AF-B170-433C-9C48-6521B792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8629650"/>
            <a:ext cx="1466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필수 원칙: 화면 문구와 이벤트 로그가 따로 놀지 않도록, UI 상태마다 저장 이벤트를 함께 정의합니다.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202D4A-2756-4F61-A848-200257C3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391F39-27D0-4038-9F75-B610FF11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352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88776200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B91A3C-B52B-4898-BF4E-B968C6A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95E3C-91CB-4797-BDB9-694EF8D9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개발 범위</a:t>
            </a:r>
          </a:p>
        </p:txBody>
      </p:sp>
      <p:sp>
        <p:nvSpPr>
          <p:cNvPr id="3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E92984E5-7FB5-49EF-8AFE-08611194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52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MVP 범위는 한 운동, 한 미션, 두 화면 묶음으로 시작한다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7C34A-97A9-47E5-88A8-2FFAB178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C5681-D37A-4CED-BB07-35E2821F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762250"/>
            <a:ext cx="68580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6FEBF-0460-4CEB-A9EF-A3419EFB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3143250"/>
            <a:ext cx="133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A36B"/>
                </a:solidFill>
                <a:latin typeface="Pretendard"/>
                <a:ea typeface="Pretendard"/>
                <a:cs typeface="Pretendard"/>
              </a:defRPr>
            </a:pPr>
            <a:r>
              <a:t>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1DAA7-5165-494A-B927-B90B7398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4000500"/>
            <a:ext cx="5715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848A5-B975-48A3-854A-205573A4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143375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팔 앞으로 뻗기 30초 미션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A1994-E3FC-4EED-A003-3348D864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4819650"/>
            <a:ext cx="5715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CD090-77AE-4B26-953F-8900D87A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962525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환자 수행 화면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3D4FD-23C1-48F2-9973-5748B305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5638800"/>
            <a:ext cx="5715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E693D-FA2F-4B43-85F6-D5D621CB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5781675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세션 완료 요약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AC634-BB67-435E-855B-BCC7F8ED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3100" y="6457950"/>
            <a:ext cx="5715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5C20B-20AE-458D-80AC-B827CF3D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6600825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치료사 세션 상세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4B18F-A140-4E8D-8A86-1489399C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0" y="2762250"/>
            <a:ext cx="68580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1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E3C84-48AF-4223-AEA4-AEEB0133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0" y="3143250"/>
            <a:ext cx="1333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538AF-5B09-43FC-87D0-3B2AC49A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4000500"/>
            <a:ext cx="5715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A20B2-1800-4948-9F8F-75E72407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4143375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전체 운동 라이브러리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134920-1F42-4B37-9CAF-52ACEBEC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4819650"/>
            <a:ext cx="5715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43C3F1-585F-4E16-99B1-DAC9A7A8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4962525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실시간 치료 판정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AC4C0-3DBC-4994-8FBA-0FC87210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5638800"/>
            <a:ext cx="5715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DCC9E-CBA7-472D-88C5-F9B7D47E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5781675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자동 처방 추천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62860A-CF21-43C9-8BB5-DD3DC6C1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100" y="6457950"/>
            <a:ext cx="5715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8763E0-876B-4086-BE52-B875DABE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6600825"/>
            <a:ext cx="521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성과/회복률 지표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98665B-B814-4C53-80D0-511B3316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8496300"/>
            <a:ext cx="1400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처음부터 큰 시스템을 만들지 않고, 한 세션이 선택·수행·기록·검토까지 닫히는지 확인합니다.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3BD088-C7D5-47DE-81CF-DB307BEC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10F17-D182-46BD-88BA-AD5B2C8C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352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8374673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1947C1-1762-49E0-A606-99AC0F61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AD98B-79BF-4DA4-B583-F9A7FCC4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476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handoff checklist</a:t>
            </a:r>
          </a:p>
        </p:txBody>
      </p:sp>
      <p:sp>
        <p:nvSpPr>
          <p:cNvPr id="3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E5C5D0E0-147B-4390-9071-D57FAF13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876300"/>
            <a:ext cx="1352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개발 인계 전에 남겨야 할 확인 질문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97FEA-CAC4-4597-B26C-640C5E4C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0" y="571500"/>
            <a:ext cx="60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BFDC0-2B3E-47D5-8586-91F12324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2571750"/>
            <a:ext cx="1466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FEFC2-E666-426F-96A7-6607FE03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2838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5C07F-0ABA-481A-87A0-75E2747D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2914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A36B"/>
          </a:solidFill>
          <a:ln xmlns:a="http://schemas.openxmlformats.org/drawingml/2006/main" w="0">
            <a:solidFill>
              <a:srgbClr val="24A36B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7C4EE-5BD4-454F-985F-7E09578B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27813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A36B"/>
                </a:solidFill>
                <a:latin typeface="Pretendard"/>
                <a:ea typeface="Pretendard"/>
                <a:cs typeface="Pretendard"/>
              </a:defRPr>
            </a:pPr>
            <a:r>
              <a:t>재활 전문가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21FF4-A360-4540-A4AC-B565A213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3124200"/>
            <a:ext cx="1257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7EC"/>
          </a:solidFill>
          <a:ln xmlns:a="http://schemas.openxmlformats.org/drawingml/2006/main" w="0">
            <a:solidFill>
              <a:srgbClr val="E2F7E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팔 뻗기 미션의 자세, 횟수, 중단 기준은 적절한가?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561B1-E688-4197-B1DA-B906B337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4000500"/>
            <a:ext cx="1466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2C749-B3CD-4F6D-B71A-672561AF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4267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10C27B-3E52-401F-8280-269BEE47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43434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AE6"/>
          </a:solidFill>
          <a:ln xmlns:a="http://schemas.openxmlformats.org/drawingml/2006/main" w="0">
            <a:solidFill>
              <a:srgbClr val="356AE6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995D5-1C97-4A0D-979B-9861AB7F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4210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56AE6"/>
                </a:solidFill>
                <a:latin typeface="Pretendard"/>
                <a:ea typeface="Pretendard"/>
                <a:cs typeface="Pretendard"/>
              </a:defRPr>
            </a:pPr>
            <a:r>
              <a:t>제품/기구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A6754-A9EF-4BE7-ADA2-C5C77FD5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4552950"/>
            <a:ext cx="1257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0">
            <a:solidFill>
              <a:srgbClr val="E8EE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이승로봇이 실제로 감지·기록할 수 있는 입력 값은 무엇인가?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8399E-CF30-4160-8CD6-E1F29D92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5429250"/>
            <a:ext cx="1466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F11F4-8036-488E-A91B-BFB4A50D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5695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92606-EDEF-4A88-BEE8-451DEADD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5772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4A"/>
          </a:solidFill>
          <a:ln xmlns:a="http://schemas.openxmlformats.org/drawingml/2006/main" w="0">
            <a:solidFill>
              <a:srgbClr val="FF6B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EA638-4FC1-4771-913C-E19A0A5E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56388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t>문구/RA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A556F-8B2C-4032-8C44-49AF09E4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5981700"/>
            <a:ext cx="1257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F"/>
          </a:solidFill>
          <a:ln xmlns:a="http://schemas.openxmlformats.org/drawingml/2006/main" w="0">
            <a:solidFill>
              <a:srgbClr val="FFE8D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환자용 피드백 문구가 치료 효과처럼 읽히지 않는가?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6EDA1-ED03-4EB0-917E-35970643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6858000"/>
            <a:ext cx="14668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8A5E3-331C-4E39-8269-F2FA11FC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7124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8BB43-F422-4B07-8E1B-3D47FCC7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0250" y="72009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A4A"/>
          </a:solidFill>
          <a:ln xmlns:a="http://schemas.openxmlformats.org/drawingml/2006/main" w="0">
            <a:solidFill>
              <a:srgbClr val="0F6A4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979D31-AD91-490F-B5E9-DDBF65E4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70675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6A4A"/>
                </a:solidFill>
                <a:latin typeface="Pretendard"/>
                <a:ea typeface="Pretendard"/>
                <a:cs typeface="Pretendard"/>
              </a:defRPr>
            </a:pPr>
            <a:r>
              <a:t>개발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E59F1B-BF77-4324-BB32-3A7E68CC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7410450"/>
            <a:ext cx="1257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EEF2F4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세션 상태와 이벤트 로그를 어떤 단위로 저장할 것인가?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A53F30-5448-4F9D-94F2-04E5921F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8591550"/>
            <a:ext cx="14668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2A"/>
                </a:solidFill>
                <a:latin typeface="Pretendard"/>
                <a:ea typeface="Pretendard"/>
                <a:cs typeface="Pretendard"/>
              </a:defRPr>
            </a:pPr>
            <a:r>
              <a:t>third acting의 산출물은 개발을 대신하지 않는다. 개발자가 첫 프로토타입을 만들 수 있게 화면과 판단 기준을 정렬한다.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ECFD04-2AA7-4E5F-8D3C-C041F79D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6583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D7"/>
          </a:solidFill>
          <a:ln xmlns:a="http://schemas.openxmlformats.org/drawingml/2006/main" w="0">
            <a:solidFill>
              <a:srgbClr val="D9E1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CDC5D2-359B-4A18-B414-35EA514C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9810750"/>
            <a:ext cx="1352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3"/>
          </a:solidFill>
          <a:ln xmlns:a="http://schemas.openxmlformats.org/drawingml/2006/main" w="0">
            <a:solidFill>
              <a:srgbClr val="F7F8F3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D"/>
                </a:solidFill>
                <a:latin typeface="Pretendard"/>
                <a:ea typeface="Pretendard"/>
                <a:cs typeface="Pretendard"/>
              </a:defRPr>
            </a:pPr>
            <a:r>
              <a:t>기획 예시 | 실제 제품 기능·의료 효과로 확정하지 않음 | 재활 전문가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779415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2026-05-12T00:25:51.9880000Z</dcterms:created>
  <dcterms:modified xsi:type="dcterms:W3CDTF">2026-05-12T00:25:51.9880000Z</dcterms:modified>
</coreProperties>
</file>